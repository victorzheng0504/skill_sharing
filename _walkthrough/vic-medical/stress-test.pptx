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02575" y="457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INTERNAL STRESS TEST 2026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" y="1901952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VIC MEDICAL ACADEMY · 临床科研方法学系列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240" y="2331720"/>
            <a:ext cx="1063721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900"/>
              </a:lnSpc>
              <a:buNone/>
            </a:pPr>
            <a:r>
              <a:rPr lang="en-US" sz="484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大语言模型辅助临床科研全流程实操:</a:t>
            </a:r>
            <a:endParaRPr lang="en-US" sz="4840" dirty="0"/>
          </a:p>
          <a:p>
            <a:pPr indent="0" marL="0">
              <a:lnSpc>
                <a:spcPts val="5900"/>
              </a:lnSpc>
              <a:buNone/>
            </a:pPr>
            <a:r>
              <a:rPr lang="en-US" sz="4840" b="1" dirty="0">
                <a:solidFill>
                  <a:srgbClr val="2BB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从选题立项到论文发表的完整路径</a:t>
            </a:r>
            <a:endParaRPr lang="en-US" sz="4840" dirty="0"/>
          </a:p>
        </p:txBody>
      </p:sp>
      <p:sp>
        <p:nvSpPr>
          <p:cNvPr id="41" name="Shape 39"/>
          <p:cNvSpPr/>
          <p:nvPr/>
        </p:nvSpPr>
        <p:spPr>
          <a:xfrm>
            <a:off x="777240" y="4315968"/>
            <a:ext cx="1014984" cy="50292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4590288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面向临床医生与研究生的三小时工作坊——覆盖文献综述、数据清洗、统计分析与投稿回复信写作四大场景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777240" y="5468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主讲:郑医生 · 维克医学创始人 · 2026 年 7 月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3895" y="566928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500" b="1" dirty="0">
                <a:solidFill>
                  <a:srgbClr val="1125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27500" dirty="0"/>
          </a:p>
        </p:txBody>
      </p:sp>
      <p:sp>
        <p:nvSpPr>
          <p:cNvPr id="39" name="Shape 37"/>
          <p:cNvSpPr/>
          <p:nvPr/>
        </p:nvSpPr>
        <p:spPr>
          <a:xfrm>
            <a:off x="777240" y="530352"/>
            <a:ext cx="1371600" cy="38404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530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11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PART 01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77240" y="2185416"/>
            <a:ext cx="64008" cy="1828800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2" name="Text 40"/>
          <p:cNvSpPr/>
          <p:nvPr/>
        </p:nvSpPr>
        <p:spPr>
          <a:xfrm>
            <a:off x="1078992" y="2121408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72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为什么传统的文献综述方法在 AI 时代</a:t>
            </a:r>
            <a:endParaRPr lang="en-US" sz="4400" dirty="0"/>
          </a:p>
          <a:p>
            <a:pPr indent="0" marL="0">
              <a:lnSpc>
                <a:spcPts val="5720"/>
              </a:lnSpc>
              <a:buNone/>
            </a:pPr>
            <a:r>
              <a:rPr lang="en-US" sz="4400" b="1" dirty="0">
                <a:solidFill>
                  <a:srgbClr val="2BB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已经不再是效率最优解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1078992" y="44348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本章用三个真实案例说明:检索策略、筛选流程与证据整合的每一步都值得被重新设计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777240" y="5586984"/>
            <a:ext cx="2467280" cy="50292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724144"/>
            <a:ext cx="246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· 文献综述的范式转移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500552" y="5586984"/>
            <a:ext cx="2467280" cy="50292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47" name="Text 45"/>
          <p:cNvSpPr/>
          <p:nvPr/>
        </p:nvSpPr>
        <p:spPr>
          <a:xfrm>
            <a:off x="3500552" y="5724144"/>
            <a:ext cx="246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· 数据清洗与质量控制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223864" y="5586984"/>
            <a:ext cx="2467280" cy="50292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49" name="Text 47"/>
          <p:cNvSpPr/>
          <p:nvPr/>
        </p:nvSpPr>
        <p:spPr>
          <a:xfrm>
            <a:off x="6223864" y="5724144"/>
            <a:ext cx="246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· 统计分析的人机协作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947175" y="5586984"/>
            <a:ext cx="2467280" cy="50292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51" name="Text 49"/>
          <p:cNvSpPr/>
          <p:nvPr/>
        </p:nvSpPr>
        <p:spPr>
          <a:xfrm>
            <a:off x="8947175" y="5724144"/>
            <a:ext cx="246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· 投稿与同行评议应对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METHODOLOGY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文献综述五步法:每一步的 AI 介入点与人工把关点</a:t>
            </a:r>
            <a:endParaRPr lang="en-US" sz="2900" dirty="0"/>
          </a:p>
        </p:txBody>
      </p:sp>
      <p:sp>
        <p:nvSpPr>
          <p:cNvPr id="41" name="Shape 39"/>
          <p:cNvSpPr/>
          <p:nvPr/>
        </p:nvSpPr>
        <p:spPr>
          <a:xfrm>
            <a:off x="777240" y="1481328"/>
            <a:ext cx="10637215" cy="742493"/>
          </a:xfrm>
          <a:prstGeom prst="roundRect">
            <a:avLst>
              <a:gd name="adj" fmla="val 7389"/>
            </a:avLst>
          </a:prstGeom>
          <a:solidFill>
            <a:srgbClr val="161B22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1517904"/>
            <a:ext cx="41148" cy="669341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3" name="Text 41"/>
          <p:cNvSpPr/>
          <p:nvPr/>
        </p:nvSpPr>
        <p:spPr>
          <a:xfrm>
            <a:off x="996696" y="1633118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722" dirty="0"/>
          </a:p>
        </p:txBody>
      </p:sp>
      <p:sp>
        <p:nvSpPr>
          <p:cNvPr id="44" name="Text 42"/>
          <p:cNvSpPr/>
          <p:nvPr/>
        </p:nvSpPr>
        <p:spPr>
          <a:xfrm>
            <a:off x="1792224" y="1481328"/>
            <a:ext cx="402336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研究问题结构化拆解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45375" y="1481328"/>
            <a:ext cx="388620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把临床疑问翻译成 PICO 框架,再由模型生成同义词扩展与 MeSH 主题词候选清单,人工逐条核对术语准确性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77240" y="2388413"/>
            <a:ext cx="10637215" cy="742493"/>
          </a:xfrm>
          <a:prstGeom prst="roundRect">
            <a:avLst>
              <a:gd name="adj" fmla="val 7389"/>
            </a:avLst>
          </a:prstGeom>
          <a:solidFill>
            <a:srgbClr val="161B22"/>
          </a:solidFill>
          <a:ln/>
        </p:spPr>
      </p:sp>
      <p:sp>
        <p:nvSpPr>
          <p:cNvPr id="47" name="Shape 45"/>
          <p:cNvSpPr/>
          <p:nvPr/>
        </p:nvSpPr>
        <p:spPr>
          <a:xfrm>
            <a:off x="777240" y="2424989"/>
            <a:ext cx="41148" cy="669341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8" name="Text 46"/>
          <p:cNvSpPr/>
          <p:nvPr/>
        </p:nvSpPr>
        <p:spPr>
          <a:xfrm>
            <a:off x="996696" y="2540203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722" dirty="0"/>
          </a:p>
        </p:txBody>
      </p:sp>
      <p:sp>
        <p:nvSpPr>
          <p:cNvPr id="49" name="Text 47"/>
          <p:cNvSpPr/>
          <p:nvPr/>
        </p:nvSpPr>
        <p:spPr>
          <a:xfrm>
            <a:off x="1792224" y="2388413"/>
            <a:ext cx="402336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多数据库检索式构建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345375" y="2388413"/>
            <a:ext cx="388620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PubMed、Embase、Cochrane 三库检索式分别适配,布尔逻辑由模型起草,检索灵敏度与特异度由人工抽样验证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77240" y="3295498"/>
            <a:ext cx="10637215" cy="742493"/>
          </a:xfrm>
          <a:prstGeom prst="roundRect">
            <a:avLst>
              <a:gd name="adj" fmla="val 7389"/>
            </a:avLst>
          </a:prstGeom>
          <a:solidFill>
            <a:srgbClr val="161B22"/>
          </a:solidFill>
          <a:ln/>
        </p:spPr>
      </p:sp>
      <p:sp>
        <p:nvSpPr>
          <p:cNvPr id="52" name="Shape 50"/>
          <p:cNvSpPr/>
          <p:nvPr/>
        </p:nvSpPr>
        <p:spPr>
          <a:xfrm>
            <a:off x="777240" y="3332074"/>
            <a:ext cx="41148" cy="669341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3" name="Text 51"/>
          <p:cNvSpPr/>
          <p:nvPr/>
        </p:nvSpPr>
        <p:spPr>
          <a:xfrm>
            <a:off x="996696" y="3447288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722" dirty="0"/>
          </a:p>
        </p:txBody>
      </p:sp>
      <p:sp>
        <p:nvSpPr>
          <p:cNvPr id="54" name="Text 52"/>
          <p:cNvSpPr/>
          <p:nvPr/>
        </p:nvSpPr>
        <p:spPr>
          <a:xfrm>
            <a:off x="1792224" y="3295498"/>
            <a:ext cx="402336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题录去重与初筛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345375" y="3295498"/>
            <a:ext cx="388620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基于标题摘要的双人独立筛选流程,模型作为第三名'评审'参与分歧仲裁,全程记录排除原因备查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777240" y="4202582"/>
            <a:ext cx="10637215" cy="742493"/>
          </a:xfrm>
          <a:prstGeom prst="roundRect">
            <a:avLst>
              <a:gd name="adj" fmla="val 7389"/>
            </a:avLst>
          </a:prstGeom>
          <a:solidFill>
            <a:srgbClr val="161B22"/>
          </a:solidFill>
          <a:ln/>
        </p:spPr>
      </p:sp>
      <p:sp>
        <p:nvSpPr>
          <p:cNvPr id="57" name="Shape 55"/>
          <p:cNvSpPr/>
          <p:nvPr/>
        </p:nvSpPr>
        <p:spPr>
          <a:xfrm>
            <a:off x="777240" y="4239158"/>
            <a:ext cx="41148" cy="669341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8" name="Text 56"/>
          <p:cNvSpPr/>
          <p:nvPr/>
        </p:nvSpPr>
        <p:spPr>
          <a:xfrm>
            <a:off x="996696" y="4354373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722" dirty="0"/>
          </a:p>
        </p:txBody>
      </p:sp>
      <p:sp>
        <p:nvSpPr>
          <p:cNvPr id="59" name="Text 57"/>
          <p:cNvSpPr/>
          <p:nvPr/>
        </p:nvSpPr>
        <p:spPr>
          <a:xfrm>
            <a:off x="1792224" y="4202582"/>
            <a:ext cx="402336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全文精读与数据提取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345375" y="4202582"/>
            <a:ext cx="388620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结构化提取表由模型预填,关键结局指标、效应量与偏倚风险条目必须由研究者对照原文逐项确认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77240" y="5109667"/>
            <a:ext cx="10637215" cy="742493"/>
          </a:xfrm>
          <a:prstGeom prst="roundRect">
            <a:avLst>
              <a:gd name="adj" fmla="val 7389"/>
            </a:avLst>
          </a:prstGeom>
          <a:solidFill>
            <a:srgbClr val="161B22"/>
          </a:solidFill>
          <a:ln/>
        </p:spPr>
      </p:sp>
      <p:sp>
        <p:nvSpPr>
          <p:cNvPr id="62" name="Shape 60"/>
          <p:cNvSpPr/>
          <p:nvPr/>
        </p:nvSpPr>
        <p:spPr>
          <a:xfrm>
            <a:off x="777240" y="5146243"/>
            <a:ext cx="41148" cy="669341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63" name="Text 61"/>
          <p:cNvSpPr/>
          <p:nvPr/>
        </p:nvSpPr>
        <p:spPr>
          <a:xfrm>
            <a:off x="996696" y="5261458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722" dirty="0"/>
          </a:p>
        </p:txBody>
      </p:sp>
      <p:sp>
        <p:nvSpPr>
          <p:cNvPr id="64" name="Text 62"/>
          <p:cNvSpPr/>
          <p:nvPr/>
        </p:nvSpPr>
        <p:spPr>
          <a:xfrm>
            <a:off x="1792224" y="5109667"/>
            <a:ext cx="402336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证据整合与综述撰写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345375" y="5109667"/>
            <a:ext cx="388620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模型负责初稿的语言组织与逻辑衔接,结论方向、证据强度分级与临床意义判断始终由人做最终决定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777240" y="6071616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0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* 本页为容量上限测试:5 行 × 长说明文字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OVER-CAPACITY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超限测试:六行要点会发生什么</a:t>
            </a:r>
            <a:endParaRPr lang="en-US" sz="2900" dirty="0"/>
          </a:p>
        </p:txBody>
      </p:sp>
      <p:sp>
        <p:nvSpPr>
          <p:cNvPr id="41" name="Shape 39"/>
          <p:cNvSpPr/>
          <p:nvPr/>
        </p:nvSpPr>
        <p:spPr>
          <a:xfrm>
            <a:off x="777240" y="1481328"/>
            <a:ext cx="10637215" cy="629412"/>
          </a:xfrm>
          <a:prstGeom prst="roundRect">
            <a:avLst>
              <a:gd name="adj" fmla="val 8717"/>
            </a:avLst>
          </a:prstGeom>
          <a:solidFill>
            <a:srgbClr val="161B22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1517904"/>
            <a:ext cx="41148" cy="556260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3" name="Text 41"/>
          <p:cNvSpPr/>
          <p:nvPr/>
        </p:nvSpPr>
        <p:spPr>
          <a:xfrm>
            <a:off x="996696" y="1576578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722" dirty="0"/>
          </a:p>
        </p:txBody>
      </p:sp>
      <p:sp>
        <p:nvSpPr>
          <p:cNvPr id="44" name="Text 42"/>
          <p:cNvSpPr/>
          <p:nvPr/>
        </p:nvSpPr>
        <p:spPr>
          <a:xfrm>
            <a:off x="1792224" y="1481328"/>
            <a:ext cx="40233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第一条要点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45375" y="1481328"/>
            <a:ext cx="388620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这是一条中等长度的说明文字,用于观察六行状态下的行高压缩表现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77240" y="2275332"/>
            <a:ext cx="10637215" cy="629412"/>
          </a:xfrm>
          <a:prstGeom prst="roundRect">
            <a:avLst>
              <a:gd name="adj" fmla="val 8717"/>
            </a:avLst>
          </a:prstGeom>
          <a:solidFill>
            <a:srgbClr val="161B22"/>
          </a:solidFill>
          <a:ln/>
        </p:spPr>
      </p:sp>
      <p:sp>
        <p:nvSpPr>
          <p:cNvPr id="47" name="Shape 45"/>
          <p:cNvSpPr/>
          <p:nvPr/>
        </p:nvSpPr>
        <p:spPr>
          <a:xfrm>
            <a:off x="777240" y="2311908"/>
            <a:ext cx="41148" cy="556260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8" name="Text 46"/>
          <p:cNvSpPr/>
          <p:nvPr/>
        </p:nvSpPr>
        <p:spPr>
          <a:xfrm>
            <a:off x="996696" y="2370582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722" dirty="0"/>
          </a:p>
        </p:txBody>
      </p:sp>
      <p:sp>
        <p:nvSpPr>
          <p:cNvPr id="49" name="Text 47"/>
          <p:cNvSpPr/>
          <p:nvPr/>
        </p:nvSpPr>
        <p:spPr>
          <a:xfrm>
            <a:off x="1792224" y="2275332"/>
            <a:ext cx="40233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第二条要点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345375" y="2275332"/>
            <a:ext cx="388620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同上,继续观察行高与字号的关系是否仍然协调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77240" y="3069336"/>
            <a:ext cx="10637215" cy="629412"/>
          </a:xfrm>
          <a:prstGeom prst="roundRect">
            <a:avLst>
              <a:gd name="adj" fmla="val 8717"/>
            </a:avLst>
          </a:prstGeom>
          <a:solidFill>
            <a:srgbClr val="161B22"/>
          </a:solidFill>
          <a:ln/>
        </p:spPr>
      </p:sp>
      <p:sp>
        <p:nvSpPr>
          <p:cNvPr id="52" name="Shape 50"/>
          <p:cNvSpPr/>
          <p:nvPr/>
        </p:nvSpPr>
        <p:spPr>
          <a:xfrm>
            <a:off x="777240" y="3105912"/>
            <a:ext cx="41148" cy="556260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3" name="Text 51"/>
          <p:cNvSpPr/>
          <p:nvPr/>
        </p:nvSpPr>
        <p:spPr>
          <a:xfrm>
            <a:off x="996696" y="3164586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722" dirty="0"/>
          </a:p>
        </p:txBody>
      </p:sp>
      <p:sp>
        <p:nvSpPr>
          <p:cNvPr id="54" name="Text 52"/>
          <p:cNvSpPr/>
          <p:nvPr/>
        </p:nvSpPr>
        <p:spPr>
          <a:xfrm>
            <a:off x="1792224" y="3069336"/>
            <a:ext cx="40233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第三条要点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345375" y="3069336"/>
            <a:ext cx="388620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如果行高被压缩到临界值以下,左侧编号与右侧说明会开始拥挤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777240" y="3863340"/>
            <a:ext cx="10637215" cy="629412"/>
          </a:xfrm>
          <a:prstGeom prst="roundRect">
            <a:avLst>
              <a:gd name="adj" fmla="val 8717"/>
            </a:avLst>
          </a:prstGeom>
          <a:solidFill>
            <a:srgbClr val="161B22"/>
          </a:solidFill>
          <a:ln/>
        </p:spPr>
      </p:sp>
      <p:sp>
        <p:nvSpPr>
          <p:cNvPr id="57" name="Shape 55"/>
          <p:cNvSpPr/>
          <p:nvPr/>
        </p:nvSpPr>
        <p:spPr>
          <a:xfrm>
            <a:off x="777240" y="3899916"/>
            <a:ext cx="41148" cy="556260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8" name="Text 56"/>
          <p:cNvSpPr/>
          <p:nvPr/>
        </p:nvSpPr>
        <p:spPr>
          <a:xfrm>
            <a:off x="996696" y="3958590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722" dirty="0"/>
          </a:p>
        </p:txBody>
      </p:sp>
      <p:sp>
        <p:nvSpPr>
          <p:cNvPr id="59" name="Text 57"/>
          <p:cNvSpPr/>
          <p:nvPr/>
        </p:nvSpPr>
        <p:spPr>
          <a:xfrm>
            <a:off x="1792224" y="3863340"/>
            <a:ext cx="40233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第四条要点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345375" y="3863340"/>
            <a:ext cx="388620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卡片内边距是否还能维持视觉呼吸感是本行的观察重点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77240" y="4657344"/>
            <a:ext cx="10637215" cy="629412"/>
          </a:xfrm>
          <a:prstGeom prst="roundRect">
            <a:avLst>
              <a:gd name="adj" fmla="val 8717"/>
            </a:avLst>
          </a:prstGeom>
          <a:solidFill>
            <a:srgbClr val="161B22"/>
          </a:solidFill>
          <a:ln/>
        </p:spPr>
      </p:sp>
      <p:sp>
        <p:nvSpPr>
          <p:cNvPr id="62" name="Shape 60"/>
          <p:cNvSpPr/>
          <p:nvPr/>
        </p:nvSpPr>
        <p:spPr>
          <a:xfrm>
            <a:off x="777240" y="4693920"/>
            <a:ext cx="41148" cy="556260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63" name="Text 61"/>
          <p:cNvSpPr/>
          <p:nvPr/>
        </p:nvSpPr>
        <p:spPr>
          <a:xfrm>
            <a:off x="996696" y="475259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722" dirty="0"/>
          </a:p>
        </p:txBody>
      </p:sp>
      <p:sp>
        <p:nvSpPr>
          <p:cNvPr id="64" name="Text 62"/>
          <p:cNvSpPr/>
          <p:nvPr/>
        </p:nvSpPr>
        <p:spPr>
          <a:xfrm>
            <a:off x="1792224" y="4657344"/>
            <a:ext cx="40233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第五条要点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345375" y="4657344"/>
            <a:ext cx="388620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倒数第二行,注意与页脚区域的安全距离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777240" y="5451348"/>
            <a:ext cx="10637215" cy="629412"/>
          </a:xfrm>
          <a:prstGeom prst="roundRect">
            <a:avLst>
              <a:gd name="adj" fmla="val 8717"/>
            </a:avLst>
          </a:prstGeom>
          <a:solidFill>
            <a:srgbClr val="161B22"/>
          </a:solidFill>
          <a:ln/>
        </p:spPr>
      </p:sp>
      <p:sp>
        <p:nvSpPr>
          <p:cNvPr id="67" name="Shape 65"/>
          <p:cNvSpPr/>
          <p:nvPr/>
        </p:nvSpPr>
        <p:spPr>
          <a:xfrm>
            <a:off x="777240" y="5487924"/>
            <a:ext cx="41148" cy="556260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68" name="Text 66"/>
          <p:cNvSpPr/>
          <p:nvPr/>
        </p:nvSpPr>
        <p:spPr>
          <a:xfrm>
            <a:off x="996696" y="5546598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1722" dirty="0"/>
          </a:p>
        </p:txBody>
      </p:sp>
      <p:sp>
        <p:nvSpPr>
          <p:cNvPr id="69" name="Text 67"/>
          <p:cNvSpPr/>
          <p:nvPr/>
        </p:nvSpPr>
        <p:spPr>
          <a:xfrm>
            <a:off x="1792224" y="5451348"/>
            <a:ext cx="40233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第六条要点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345375" y="5451348"/>
            <a:ext cx="388620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最后一行,观察是否侵入页脚或footnote区域</a:t>
            </a:r>
            <a:endParaRPr lang="en-US" sz="1250" dirty="0"/>
          </a:p>
        </p:txBody>
      </p:sp>
      <p:sp>
        <p:nvSpPr>
          <p:cNvPr id="71" name="Text 69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SCENARIOS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四个高频临床科研场景的落地要点</a:t>
            </a:r>
            <a:endParaRPr lang="en-US" sz="2900" dirty="0"/>
          </a:p>
        </p:txBody>
      </p:sp>
      <p:sp>
        <p:nvSpPr>
          <p:cNvPr id="41" name="Shape 39"/>
          <p:cNvSpPr/>
          <p:nvPr/>
        </p:nvSpPr>
        <p:spPr>
          <a:xfrm>
            <a:off x="777240" y="1481328"/>
            <a:ext cx="2419274" cy="3581400"/>
          </a:xfrm>
          <a:prstGeom prst="roundRect">
            <a:avLst>
              <a:gd name="adj" fmla="val 2268"/>
            </a:avLst>
          </a:prstGeom>
          <a:solidFill>
            <a:srgbClr val="161B22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1517904"/>
            <a:ext cx="41148" cy="350824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051560" y="171907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051560" y="2304288"/>
            <a:ext cx="1870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回顾性队列研究的数据治理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1560" y="3081528"/>
            <a:ext cx="1870634" cy="166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0"/>
              </a:lnSpc>
              <a:buNone/>
            </a:pPr>
            <a:r>
              <a:rPr lang="en-US" sz="112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电子病历导出的原始数据往往存在缺失、异常值与编码不一致三类问题。先由模型生成数据字典与清洗脚本草稿,再由研究者在脱敏样本上逐列验证清洗规则,最后全量执行并留存清洗日志。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3516554" y="1481328"/>
            <a:ext cx="2419274" cy="3581400"/>
          </a:xfrm>
          <a:prstGeom prst="roundRect">
            <a:avLst>
              <a:gd name="adj" fmla="val 2268"/>
            </a:avLst>
          </a:prstGeom>
          <a:solidFill>
            <a:srgbClr val="161B22"/>
          </a:solidFill>
          <a:ln/>
        </p:spPr>
      </p:sp>
      <p:sp>
        <p:nvSpPr>
          <p:cNvPr id="47" name="Shape 45"/>
          <p:cNvSpPr/>
          <p:nvPr/>
        </p:nvSpPr>
        <p:spPr>
          <a:xfrm>
            <a:off x="3516554" y="1517904"/>
            <a:ext cx="41148" cy="350824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8" name="Text 46"/>
          <p:cNvSpPr/>
          <p:nvPr/>
        </p:nvSpPr>
        <p:spPr>
          <a:xfrm>
            <a:off x="3790874" y="171907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3790874" y="2304288"/>
            <a:ext cx="1870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随机对照试验的方案撰写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790874" y="3081528"/>
            <a:ext cx="1870634" cy="166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0"/>
              </a:lnSpc>
              <a:buNone/>
            </a:pPr>
            <a:r>
              <a:rPr lang="en-US" sz="112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试验方案的核心是样本量估算与随机化方案。模型可以快速生成多组参数假设下的样本量敏感性分析,但检验水准、把握度与脱落率的取值必须引用同领域已发表试验作为依据。</a:t>
            </a:r>
            <a:endParaRPr lang="en-US" sz="1120" dirty="0"/>
          </a:p>
        </p:txBody>
      </p:sp>
      <p:sp>
        <p:nvSpPr>
          <p:cNvPr id="51" name="Shape 49"/>
          <p:cNvSpPr/>
          <p:nvPr/>
        </p:nvSpPr>
        <p:spPr>
          <a:xfrm>
            <a:off x="6255868" y="1481328"/>
            <a:ext cx="2419274" cy="3581400"/>
          </a:xfrm>
          <a:prstGeom prst="roundRect">
            <a:avLst>
              <a:gd name="adj" fmla="val 2268"/>
            </a:avLst>
          </a:prstGeom>
          <a:solidFill>
            <a:srgbClr val="161B22"/>
          </a:solidFill>
          <a:ln/>
        </p:spPr>
      </p:sp>
      <p:sp>
        <p:nvSpPr>
          <p:cNvPr id="52" name="Shape 50"/>
          <p:cNvSpPr/>
          <p:nvPr/>
        </p:nvSpPr>
        <p:spPr>
          <a:xfrm>
            <a:off x="6255868" y="1517904"/>
            <a:ext cx="41148" cy="350824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3" name="Text 51"/>
          <p:cNvSpPr/>
          <p:nvPr/>
        </p:nvSpPr>
        <p:spPr>
          <a:xfrm>
            <a:off x="6530188" y="171907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6530188" y="2304288"/>
            <a:ext cx="1870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诊断准确性研究的报告规范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30188" y="3081528"/>
            <a:ext cx="1870634" cy="166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STARD 清单共 30 个条目,模型可逐条比对稿件并标注缺失项。特别注意金标准的定义、纳入流程图与不确定结果的处理这三处最容易被审稿人质疑的位置。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995181" y="1481328"/>
            <a:ext cx="2419274" cy="3581400"/>
          </a:xfrm>
          <a:prstGeom prst="roundRect">
            <a:avLst>
              <a:gd name="adj" fmla="val 2268"/>
            </a:avLst>
          </a:prstGeom>
          <a:solidFill>
            <a:srgbClr val="161B22"/>
          </a:solidFill>
          <a:ln/>
        </p:spPr>
      </p:sp>
      <p:sp>
        <p:nvSpPr>
          <p:cNvPr id="57" name="Shape 55"/>
          <p:cNvSpPr/>
          <p:nvPr/>
        </p:nvSpPr>
        <p:spPr>
          <a:xfrm>
            <a:off x="8995181" y="1517904"/>
            <a:ext cx="41148" cy="350824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8" name="Text 56"/>
          <p:cNvSpPr/>
          <p:nvPr/>
        </p:nvSpPr>
        <p:spPr>
          <a:xfrm>
            <a:off x="9269501" y="171907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9269501" y="2304288"/>
            <a:ext cx="18706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meta 分析的统计实现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269501" y="3081528"/>
            <a:ext cx="1870634" cy="166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异质性检验、亚组分析与发表偏倚评估的 R 代码可由模型生成,但模型选择(固定效应 vs 随机效应)的判断依据需要写入方法学部分,并在敏感性分析中交代。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CONTENTS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今天的六个模块</a:t>
            </a:r>
            <a:endParaRPr lang="en-US" sz="2900" dirty="0"/>
          </a:p>
        </p:txBody>
      </p:sp>
      <p:sp>
        <p:nvSpPr>
          <p:cNvPr id="41" name="Shape 39"/>
          <p:cNvSpPr/>
          <p:nvPr/>
        </p:nvSpPr>
        <p:spPr>
          <a:xfrm>
            <a:off x="777240" y="1892808"/>
            <a:ext cx="3362858" cy="1554480"/>
          </a:xfrm>
          <a:prstGeom prst="roundRect">
            <a:avLst>
              <a:gd name="adj" fmla="val 3529"/>
            </a:avLst>
          </a:prstGeom>
          <a:solidFill>
            <a:srgbClr val="161B22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1929384"/>
            <a:ext cx="41148" cy="148132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033272" y="20756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7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507" dirty="0"/>
          </a:p>
        </p:txBody>
      </p:sp>
      <p:sp>
        <p:nvSpPr>
          <p:cNvPr id="44" name="Text 42"/>
          <p:cNvSpPr/>
          <p:nvPr/>
        </p:nvSpPr>
        <p:spPr>
          <a:xfrm>
            <a:off x="1033272" y="2551176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文献综述的范式转移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33272" y="2971800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从人工检索到人机协作的完整流程再造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414418" y="1892808"/>
            <a:ext cx="3362858" cy="1554480"/>
          </a:xfrm>
          <a:prstGeom prst="roundRect">
            <a:avLst>
              <a:gd name="adj" fmla="val 3529"/>
            </a:avLst>
          </a:prstGeom>
          <a:solidFill>
            <a:srgbClr val="161B22"/>
          </a:solidFill>
          <a:ln/>
        </p:spPr>
      </p:sp>
      <p:sp>
        <p:nvSpPr>
          <p:cNvPr id="47" name="Shape 45"/>
          <p:cNvSpPr/>
          <p:nvPr/>
        </p:nvSpPr>
        <p:spPr>
          <a:xfrm>
            <a:off x="4414418" y="1929384"/>
            <a:ext cx="41148" cy="148132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8" name="Text 46"/>
          <p:cNvSpPr/>
          <p:nvPr/>
        </p:nvSpPr>
        <p:spPr>
          <a:xfrm>
            <a:off x="4670450" y="20756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7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507" dirty="0"/>
          </a:p>
        </p:txBody>
      </p:sp>
      <p:sp>
        <p:nvSpPr>
          <p:cNvPr id="49" name="Text 47"/>
          <p:cNvSpPr/>
          <p:nvPr/>
        </p:nvSpPr>
        <p:spPr>
          <a:xfrm>
            <a:off x="4670450" y="2551176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数据清洗与质量控制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4670450" y="2971800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电子病历数据的三类典型问题与对策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51597" y="1892808"/>
            <a:ext cx="3362858" cy="1554480"/>
          </a:xfrm>
          <a:prstGeom prst="roundRect">
            <a:avLst>
              <a:gd name="adj" fmla="val 3529"/>
            </a:avLst>
          </a:prstGeom>
          <a:solidFill>
            <a:srgbClr val="161B22"/>
          </a:solidFill>
          <a:ln/>
        </p:spPr>
      </p:sp>
      <p:sp>
        <p:nvSpPr>
          <p:cNvPr id="52" name="Shape 50"/>
          <p:cNvSpPr/>
          <p:nvPr/>
        </p:nvSpPr>
        <p:spPr>
          <a:xfrm>
            <a:off x="8051597" y="1929384"/>
            <a:ext cx="41148" cy="148132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3" name="Text 51"/>
          <p:cNvSpPr/>
          <p:nvPr/>
        </p:nvSpPr>
        <p:spPr>
          <a:xfrm>
            <a:off x="8307629" y="20756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7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507" dirty="0"/>
          </a:p>
        </p:txBody>
      </p:sp>
      <p:sp>
        <p:nvSpPr>
          <p:cNvPr id="54" name="Text 52"/>
          <p:cNvSpPr/>
          <p:nvPr/>
        </p:nvSpPr>
        <p:spPr>
          <a:xfrm>
            <a:off x="8307629" y="2551176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统计分析的人机协作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307629" y="2971800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代码生成、结果解读与方法学写作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77240" y="3721608"/>
            <a:ext cx="3362858" cy="1554480"/>
          </a:xfrm>
          <a:prstGeom prst="roundRect">
            <a:avLst>
              <a:gd name="adj" fmla="val 3529"/>
            </a:avLst>
          </a:prstGeom>
          <a:solidFill>
            <a:srgbClr val="161B22"/>
          </a:solidFill>
          <a:ln/>
        </p:spPr>
      </p:sp>
      <p:sp>
        <p:nvSpPr>
          <p:cNvPr id="57" name="Shape 55"/>
          <p:cNvSpPr/>
          <p:nvPr/>
        </p:nvSpPr>
        <p:spPr>
          <a:xfrm>
            <a:off x="777240" y="3758184"/>
            <a:ext cx="41148" cy="148132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8" name="Text 56"/>
          <p:cNvSpPr/>
          <p:nvPr/>
        </p:nvSpPr>
        <p:spPr>
          <a:xfrm>
            <a:off x="1033272" y="39044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7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507" dirty="0"/>
          </a:p>
        </p:txBody>
      </p:sp>
      <p:sp>
        <p:nvSpPr>
          <p:cNvPr id="59" name="Text 57"/>
          <p:cNvSpPr/>
          <p:nvPr/>
        </p:nvSpPr>
        <p:spPr>
          <a:xfrm>
            <a:off x="1033272" y="4379976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论文写作的效率工具链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033272" y="4800600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从大纲到投稿信的全流程模板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414418" y="3721608"/>
            <a:ext cx="3362858" cy="1554480"/>
          </a:xfrm>
          <a:prstGeom prst="roundRect">
            <a:avLst>
              <a:gd name="adj" fmla="val 3529"/>
            </a:avLst>
          </a:prstGeom>
          <a:solidFill>
            <a:srgbClr val="161B22"/>
          </a:solidFill>
          <a:ln/>
        </p:spPr>
      </p:sp>
      <p:sp>
        <p:nvSpPr>
          <p:cNvPr id="62" name="Shape 60"/>
          <p:cNvSpPr/>
          <p:nvPr/>
        </p:nvSpPr>
        <p:spPr>
          <a:xfrm>
            <a:off x="4414418" y="3758184"/>
            <a:ext cx="41148" cy="148132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63" name="Text 61"/>
          <p:cNvSpPr/>
          <p:nvPr/>
        </p:nvSpPr>
        <p:spPr>
          <a:xfrm>
            <a:off x="4670450" y="39044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7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507" dirty="0"/>
          </a:p>
        </p:txBody>
      </p:sp>
      <p:sp>
        <p:nvSpPr>
          <p:cNvPr id="64" name="Text 62"/>
          <p:cNvSpPr/>
          <p:nvPr/>
        </p:nvSpPr>
        <p:spPr>
          <a:xfrm>
            <a:off x="4670450" y="4379976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同行评议应对策略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4670450" y="4800600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审稿意见的分类处理与回复信写作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051597" y="3721608"/>
            <a:ext cx="3362858" cy="1554480"/>
          </a:xfrm>
          <a:prstGeom prst="roundRect">
            <a:avLst>
              <a:gd name="adj" fmla="val 3529"/>
            </a:avLst>
          </a:prstGeom>
          <a:solidFill>
            <a:srgbClr val="161B22"/>
          </a:solidFill>
          <a:ln/>
        </p:spPr>
      </p:sp>
      <p:sp>
        <p:nvSpPr>
          <p:cNvPr id="67" name="Shape 65"/>
          <p:cNvSpPr/>
          <p:nvPr/>
        </p:nvSpPr>
        <p:spPr>
          <a:xfrm>
            <a:off x="8051597" y="3758184"/>
            <a:ext cx="41148" cy="148132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68" name="Text 66"/>
          <p:cNvSpPr/>
          <p:nvPr/>
        </p:nvSpPr>
        <p:spPr>
          <a:xfrm>
            <a:off x="8307629" y="39044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7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1507" dirty="0"/>
          </a:p>
        </p:txBody>
      </p:sp>
      <p:sp>
        <p:nvSpPr>
          <p:cNvPr id="69" name="Text 67"/>
          <p:cNvSpPr/>
          <p:nvPr/>
        </p:nvSpPr>
        <p:spPr>
          <a:xfrm>
            <a:off x="8307629" y="4379976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科研诚信与 AI 使用边界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8307629" y="4800600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期刊政策、署名规范与披露要求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HANDS-ON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数据清洗:先立规则,再写代码</a:t>
            </a:r>
            <a:endParaRPr lang="en-US" sz="2900" dirty="0"/>
          </a:p>
        </p:txBody>
      </p:sp>
      <p:sp>
        <p:nvSpPr>
          <p:cNvPr id="41" name="Shape 39"/>
          <p:cNvSpPr/>
          <p:nvPr/>
        </p:nvSpPr>
        <p:spPr>
          <a:xfrm>
            <a:off x="777240" y="1481328"/>
            <a:ext cx="5135728" cy="3030728"/>
          </a:xfrm>
          <a:prstGeom prst="roundRect">
            <a:avLst>
              <a:gd name="adj" fmla="val 1810"/>
            </a:avLst>
          </a:prstGeom>
          <a:solidFill>
            <a:srgbClr val="161B22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1517904"/>
            <a:ext cx="41148" cy="2957576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097280" y="173736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清洗规则(人定)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097280" y="2322576"/>
            <a:ext cx="4495648" cy="191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缺失率超过 30% 的变量整列剔除并在方法学部分披露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连续变量采用温莎化处理,截断点取 1% 与 99% 分位数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分类变量的罕见水平(&lt;5%)合并为'其他'类目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时间变量统一转换为 ISO 8601 格式并校验逻辑先后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所有清洗步骤写入日志,原始数据只读不改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278728" y="1481328"/>
            <a:ext cx="5135728" cy="3030728"/>
          </a:xfrm>
          <a:prstGeom prst="roundRect">
            <a:avLst>
              <a:gd name="adj" fmla="val 1810"/>
            </a:avLst>
          </a:prstGeom>
          <a:solidFill>
            <a:srgbClr val="10151D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98768" y="173736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执行脚本(机写)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598768" y="2322576"/>
            <a:ext cx="4495648" cy="191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df &lt;- read_csv('emr_export.csv')</a:t>
            </a:r>
            <a:endParaRPr lang="en-US" sz="115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miss_rate &lt;- colMeans(is.na(df))</a:t>
            </a:r>
            <a:endParaRPr lang="en-US" sz="115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df &lt;- df[, miss_rate &lt;= 0.30]</a:t>
            </a:r>
            <a:endParaRPr lang="en-US" sz="115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num_cols &lt;- sapply(df, is.numeric)</a:t>
            </a:r>
            <a:endParaRPr lang="en-US" sz="115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df[num_cols] &lt;- lapply(df[num_cols],</a:t>
            </a:r>
            <a:endParaRPr lang="en-US" sz="115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\(x) winsorize(x, probs = c(.01, .99)))</a:t>
            </a:r>
            <a:endParaRPr lang="en-US" sz="115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write_csv(df, 'emr_clean.csv')</a:t>
            </a:r>
            <a:endParaRPr lang="en-US" sz="1150" dirty="0"/>
          </a:p>
          <a:p>
            <a:pPr indent="0" marL="0">
              <a:lnSpc>
                <a:spcPts val="1840"/>
              </a:lnSpc>
              <a:buNone/>
            </a:pPr>
            <a:r>
              <a:rPr lang="en-US" sz="11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log_step('winsorize', Sys.time())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BEFORE / AFTER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传统流程 vs 人机协作流程</a:t>
            </a:r>
            <a:endParaRPr lang="en-US" sz="2900" dirty="0"/>
          </a:p>
        </p:txBody>
      </p:sp>
      <p:sp>
        <p:nvSpPr>
          <p:cNvPr id="41" name="Shape 39"/>
          <p:cNvSpPr/>
          <p:nvPr/>
        </p:nvSpPr>
        <p:spPr>
          <a:xfrm>
            <a:off x="777240" y="1481328"/>
            <a:ext cx="5135728" cy="3304794"/>
          </a:xfrm>
          <a:prstGeom prst="roundRect">
            <a:avLst>
              <a:gd name="adj" fmla="val 1660"/>
            </a:avLst>
          </a:prstGeom>
          <a:solidFill>
            <a:srgbClr val="161B22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1517904"/>
            <a:ext cx="41148" cy="3231642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777240" y="1481328"/>
            <a:ext cx="5135728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4" name="Text 42"/>
          <p:cNvSpPr/>
          <p:nvPr/>
        </p:nvSpPr>
        <p:spPr>
          <a:xfrm>
            <a:off x="1069848" y="1700784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8514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传统流程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69848" y="2029968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平均 6-8 周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69848" y="2624328"/>
            <a:ext cx="4550512" cy="184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手工构建检索式,单库检索后人工去重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双人逐篇筛选题录,分歧靠第三人仲裁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数据提取表用 Excel 手填,错漏难追溯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统计分析外包或自学,周期不可控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初稿语言反复打磨,母语润色额外付费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回复信逐条手写,格式规范靠经验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78728" y="1481328"/>
            <a:ext cx="5135728" cy="3304794"/>
          </a:xfrm>
          <a:prstGeom prst="roundRect">
            <a:avLst>
              <a:gd name="adj" fmla="val 1660"/>
            </a:avLst>
          </a:prstGeom>
          <a:solidFill>
            <a:srgbClr val="161B22"/>
          </a:solidFill>
          <a:ln/>
        </p:spPr>
      </p:sp>
      <p:sp>
        <p:nvSpPr>
          <p:cNvPr id="48" name="Shape 46"/>
          <p:cNvSpPr/>
          <p:nvPr/>
        </p:nvSpPr>
        <p:spPr>
          <a:xfrm>
            <a:off x="6278728" y="1517904"/>
            <a:ext cx="41148" cy="3231642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9" name="Shape 47"/>
          <p:cNvSpPr/>
          <p:nvPr/>
        </p:nvSpPr>
        <p:spPr>
          <a:xfrm>
            <a:off x="6278728" y="1481328"/>
            <a:ext cx="5135728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0" name="Text 48"/>
          <p:cNvSpPr/>
          <p:nvPr/>
        </p:nvSpPr>
        <p:spPr>
          <a:xfrm>
            <a:off x="6571336" y="1700784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3FB9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人机协作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71336" y="2029968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平均 2-3 周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571336" y="2624328"/>
            <a:ext cx="4550512" cy="184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模型起草检索式,人工抽样验证灵敏度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模型作为第三评审参与分歧仲裁并留痕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结构化提取表预填 + 人工对照原文确认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分析代码即时生成,人负责模型选择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语言组织交给模型,科学判断留给人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回复信按审稿人分组起草,当天可返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ROADMAP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从零到投稿的十二周计划</a:t>
            </a:r>
            <a:endParaRPr lang="en-US" sz="2900" dirty="0"/>
          </a:p>
        </p:txBody>
      </p:sp>
      <p:sp>
        <p:nvSpPr>
          <p:cNvPr id="41" name="Shape 39"/>
          <p:cNvSpPr/>
          <p:nvPr/>
        </p:nvSpPr>
        <p:spPr>
          <a:xfrm>
            <a:off x="1663675" y="3450209"/>
            <a:ext cx="8864346" cy="0"/>
          </a:xfrm>
          <a:prstGeom prst="line">
            <a:avLst/>
          </a:prstGeom>
          <a:noFill/>
          <a:ln w="25400">
            <a:solidFill>
              <a:srgbClr val="2A31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72235" y="3358769"/>
            <a:ext cx="182880" cy="182880"/>
          </a:xfrm>
          <a:prstGeom prst="ellipse">
            <a:avLst/>
          </a:prstGeom>
          <a:solidFill>
            <a:srgbClr val="2BB8F0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2901569"/>
            <a:ext cx="1589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W1-2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68680" y="3706241"/>
            <a:ext cx="158998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选题立项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14400" y="4227449"/>
            <a:ext cx="149854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PICO 拆解与可行性评估,预注册研究方案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45104" y="3358769"/>
            <a:ext cx="182880" cy="182880"/>
          </a:xfrm>
          <a:prstGeom prst="ellipse">
            <a:avLst/>
          </a:prstGeom>
          <a:solidFill>
            <a:srgbClr val="2BB8F0"/>
          </a:solidFill>
          <a:ln/>
        </p:spPr>
      </p:sp>
      <p:sp>
        <p:nvSpPr>
          <p:cNvPr id="47" name="Text 45"/>
          <p:cNvSpPr/>
          <p:nvPr/>
        </p:nvSpPr>
        <p:spPr>
          <a:xfrm>
            <a:off x="2641549" y="2901569"/>
            <a:ext cx="1589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W3-4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641549" y="3706241"/>
            <a:ext cx="158998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文献综述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2687269" y="4227449"/>
            <a:ext cx="149854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三库检索与双人筛选,完成证据地图初稿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117973" y="3358769"/>
            <a:ext cx="182880" cy="182880"/>
          </a:xfrm>
          <a:prstGeom prst="ellipse">
            <a:avLst/>
          </a:prstGeom>
          <a:solidFill>
            <a:srgbClr val="2BB8F0"/>
          </a:solidFill>
          <a:ln/>
        </p:spPr>
      </p:sp>
      <p:sp>
        <p:nvSpPr>
          <p:cNvPr id="51" name="Text 49"/>
          <p:cNvSpPr/>
          <p:nvPr/>
        </p:nvSpPr>
        <p:spPr>
          <a:xfrm>
            <a:off x="4414418" y="2901569"/>
            <a:ext cx="1589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W5-7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414418" y="3706241"/>
            <a:ext cx="158998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460138" y="4227449"/>
            <a:ext cx="149854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清洗规则评审、脚本执行与质量报告归档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90842" y="3358769"/>
            <a:ext cx="182880" cy="182880"/>
          </a:xfrm>
          <a:prstGeom prst="ellipse">
            <a:avLst/>
          </a:prstGeom>
          <a:solidFill>
            <a:srgbClr val="2BB8F0"/>
          </a:solidFill>
          <a:ln/>
        </p:spPr>
      </p:sp>
      <p:sp>
        <p:nvSpPr>
          <p:cNvPr id="55" name="Text 53"/>
          <p:cNvSpPr/>
          <p:nvPr/>
        </p:nvSpPr>
        <p:spPr>
          <a:xfrm>
            <a:off x="6187288" y="2901569"/>
            <a:ext cx="1589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W8-9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87288" y="3706241"/>
            <a:ext cx="158998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统计分析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233008" y="4227449"/>
            <a:ext cx="149854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主分析与敏感性分析,图表按期刊规范输出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663711" y="3358769"/>
            <a:ext cx="182880" cy="182880"/>
          </a:xfrm>
          <a:prstGeom prst="ellipse">
            <a:avLst/>
          </a:prstGeom>
          <a:solidFill>
            <a:srgbClr val="2BB8F0"/>
          </a:solidFill>
          <a:ln/>
        </p:spPr>
      </p:sp>
      <p:sp>
        <p:nvSpPr>
          <p:cNvPr id="59" name="Text 57"/>
          <p:cNvSpPr/>
          <p:nvPr/>
        </p:nvSpPr>
        <p:spPr>
          <a:xfrm>
            <a:off x="7960157" y="2901569"/>
            <a:ext cx="1589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W10-11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960157" y="3706241"/>
            <a:ext cx="158998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论文撰写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005877" y="4227449"/>
            <a:ext cx="149854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IMRaD 结构逐节成稿,内部预审两轮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0436581" y="3358769"/>
            <a:ext cx="182880" cy="182880"/>
          </a:xfrm>
          <a:prstGeom prst="ellipse">
            <a:avLst/>
          </a:prstGeom>
          <a:solidFill>
            <a:srgbClr val="2A313B"/>
          </a:solidFill>
          <a:ln/>
        </p:spPr>
      </p:sp>
      <p:sp>
        <p:nvSpPr>
          <p:cNvPr id="63" name="Text 61"/>
          <p:cNvSpPr/>
          <p:nvPr/>
        </p:nvSpPr>
        <p:spPr>
          <a:xfrm>
            <a:off x="9733026" y="2901569"/>
            <a:ext cx="1589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W12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733026" y="3706241"/>
            <a:ext cx="158998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投稿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9778746" y="4227449"/>
            <a:ext cx="149854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期刊匹配、格式适配与投稿信定稿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EVIDENCE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六个常用 AI 工具在科研场景的适配度评估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27048"/>
          <a:ext cx="10637215" cy="914400"/>
        </p:xfrm>
        <a:graphic>
          <a:graphicData uri="http://schemas.openxmlformats.org/drawingml/2006/table">
            <a:tbl>
              <a:tblPr/>
              <a:tblGrid>
                <a:gridCol w="2127443"/>
                <a:gridCol w="2127443"/>
                <a:gridCol w="2127443"/>
                <a:gridCol w="2127443"/>
                <a:gridCol w="212744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工具/模型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文献综述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数据分析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论文写作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合规风险提示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6EDF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Claude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检索式与筛选仲裁均可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代码生成质量高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长文逻辑连贯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注意披露使用范围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6EDF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ChatGPT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综述提纲能力强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代码可用需验证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语言润色出色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幻觉引用需逐条核对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6EDF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Elicit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专为文献设计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不适用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不适用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覆盖库有限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6EDF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Consensus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证据方向速览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不适用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不适用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不能替代系统检索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6EDF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ResearchRabbit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引文网络可视化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不适用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不适用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无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6EDF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Scite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引用立场分析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不适用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辅助引用核查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订阅费用较高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6EDF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Copilot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不适用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IDE 内补全顺手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不适用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代码许可证争议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6EDF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NotebookLM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私有文献库问答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不适用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辅助素材整理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EB3B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上传数据需脱敏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1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2" name="Text 39"/>
          <p:cNvSpPr/>
          <p:nvPr/>
        </p:nvSpPr>
        <p:spPr>
          <a:xfrm>
            <a:off x="777240" y="4752340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来源: 维克医学内部评估,2026 年 6 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CORE BELIEF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77240" y="1600200"/>
            <a:ext cx="10637215" cy="3246120"/>
          </a:xfrm>
          <a:prstGeom prst="roundRect">
            <a:avLst>
              <a:gd name="adj" fmla="val 1690"/>
            </a:avLst>
          </a:prstGeom>
          <a:solidFill>
            <a:srgbClr val="161B22"/>
          </a:solidFill>
          <a:ln/>
        </p:spPr>
      </p:sp>
      <p:sp>
        <p:nvSpPr>
          <p:cNvPr id="40" name="Shape 38"/>
          <p:cNvSpPr/>
          <p:nvPr/>
        </p:nvSpPr>
        <p:spPr>
          <a:xfrm>
            <a:off x="777240" y="1636776"/>
            <a:ext cx="54864" cy="317296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1" name="Text 39"/>
          <p:cNvSpPr/>
          <p:nvPr/>
        </p:nvSpPr>
        <p:spPr>
          <a:xfrm>
            <a:off x="1280160" y="1920240"/>
            <a:ext cx="96313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不会取代医生做研究,</a:t>
            </a:r>
            <a:endParaRPr lang="en-US" sz="3400" dirty="0"/>
          </a:p>
          <a:p>
            <a:pPr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但会用 AI 的研究者,</a:t>
            </a:r>
            <a:endParaRPr lang="en-US" sz="3400" dirty="0"/>
          </a:p>
          <a:p>
            <a:pPr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2BB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正在取代不会用的。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1280160" y="416052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工具的差距是暂时的,工作流的差距是复利的——这正是我们今天要解决的问题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WORKFLOW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审稿意见回复的五步标准流程</a:t>
            </a:r>
            <a:endParaRPr lang="en-US" sz="2900" dirty="0"/>
          </a:p>
        </p:txBody>
      </p:sp>
      <p:sp>
        <p:nvSpPr>
          <p:cNvPr id="41" name="Shape 39"/>
          <p:cNvSpPr/>
          <p:nvPr/>
        </p:nvSpPr>
        <p:spPr>
          <a:xfrm>
            <a:off x="777240" y="1481328"/>
            <a:ext cx="1820205" cy="2460117"/>
          </a:xfrm>
          <a:prstGeom prst="roundRect">
            <a:avLst>
              <a:gd name="adj" fmla="val 3014"/>
            </a:avLst>
          </a:prstGeom>
          <a:solidFill>
            <a:srgbClr val="161B22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1517904"/>
            <a:ext cx="41148" cy="2386965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014984" y="1700784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014984" y="2286000"/>
            <a:ext cx="13447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意见分类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1014984" y="3017520"/>
            <a:ext cx="1344717" cy="63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把所有意见按'必须改/可商榷/误解澄清'三类标注优先级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551725" y="2482787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80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2981493" y="1481328"/>
            <a:ext cx="1820205" cy="2460117"/>
          </a:xfrm>
          <a:prstGeom prst="roundRect">
            <a:avLst>
              <a:gd name="adj" fmla="val 3014"/>
            </a:avLst>
          </a:prstGeom>
          <a:solidFill>
            <a:srgbClr val="161B22"/>
          </a:solidFill>
          <a:ln/>
        </p:spPr>
      </p:sp>
      <p:sp>
        <p:nvSpPr>
          <p:cNvPr id="48" name="Shape 46"/>
          <p:cNvSpPr/>
          <p:nvPr/>
        </p:nvSpPr>
        <p:spPr>
          <a:xfrm>
            <a:off x="2981493" y="1517904"/>
            <a:ext cx="41148" cy="2386965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9" name="Text 47"/>
          <p:cNvSpPr/>
          <p:nvPr/>
        </p:nvSpPr>
        <p:spPr>
          <a:xfrm>
            <a:off x="3219237" y="1700784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3219237" y="2286000"/>
            <a:ext cx="13447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逐条起草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3219237" y="3017520"/>
            <a:ext cx="1344717" cy="63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每条意见先写行动项再写回复文字,改动处标注页码行号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755977" y="2482787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80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5185745" y="1481328"/>
            <a:ext cx="1820205" cy="2460117"/>
          </a:xfrm>
          <a:prstGeom prst="roundRect">
            <a:avLst>
              <a:gd name="adj" fmla="val 3014"/>
            </a:avLst>
          </a:prstGeom>
          <a:solidFill>
            <a:srgbClr val="161B22"/>
          </a:solidFill>
          <a:ln/>
        </p:spPr>
      </p:sp>
      <p:sp>
        <p:nvSpPr>
          <p:cNvPr id="54" name="Shape 52"/>
          <p:cNvSpPr/>
          <p:nvPr/>
        </p:nvSpPr>
        <p:spPr>
          <a:xfrm>
            <a:off x="5185745" y="1517904"/>
            <a:ext cx="41148" cy="2386965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5" name="Text 53"/>
          <p:cNvSpPr/>
          <p:nvPr/>
        </p:nvSpPr>
        <p:spPr>
          <a:xfrm>
            <a:off x="5423489" y="1700784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5423489" y="2286000"/>
            <a:ext cx="13447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补充分析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5423489" y="3017520"/>
            <a:ext cx="1344717" cy="63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需要新数据或新分析的意见单独立项,评估工作量与时限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60230" y="2482787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80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7389998" y="1481328"/>
            <a:ext cx="1820205" cy="2460117"/>
          </a:xfrm>
          <a:prstGeom prst="roundRect">
            <a:avLst>
              <a:gd name="adj" fmla="val 3014"/>
            </a:avLst>
          </a:prstGeom>
          <a:solidFill>
            <a:srgbClr val="161B22"/>
          </a:solidFill>
          <a:ln/>
        </p:spPr>
      </p:sp>
      <p:sp>
        <p:nvSpPr>
          <p:cNvPr id="60" name="Shape 58"/>
          <p:cNvSpPr/>
          <p:nvPr/>
        </p:nvSpPr>
        <p:spPr>
          <a:xfrm>
            <a:off x="7389998" y="1517904"/>
            <a:ext cx="41148" cy="2386965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61" name="Text 59"/>
          <p:cNvSpPr/>
          <p:nvPr/>
        </p:nvSpPr>
        <p:spPr>
          <a:xfrm>
            <a:off x="7627742" y="1700784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7627742" y="2286000"/>
            <a:ext cx="13447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交叉审阅</a:t>
            </a:r>
            <a:endParaRPr lang="en-US" sz="1450" dirty="0"/>
          </a:p>
        </p:txBody>
      </p:sp>
      <p:sp>
        <p:nvSpPr>
          <p:cNvPr id="63" name="Text 61"/>
          <p:cNvSpPr/>
          <p:nvPr/>
        </p:nvSpPr>
        <p:spPr>
          <a:xfrm>
            <a:off x="7627742" y="3017520"/>
            <a:ext cx="1344717" cy="63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回复信与修改稿由未参与起草的合作者对照审阅一遍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164483" y="2482787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80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700" dirty="0"/>
          </a:p>
        </p:txBody>
      </p:sp>
      <p:sp>
        <p:nvSpPr>
          <p:cNvPr id="65" name="Shape 63"/>
          <p:cNvSpPr/>
          <p:nvPr/>
        </p:nvSpPr>
        <p:spPr>
          <a:xfrm>
            <a:off x="9594251" y="1481328"/>
            <a:ext cx="1820205" cy="2460117"/>
          </a:xfrm>
          <a:prstGeom prst="roundRect">
            <a:avLst>
              <a:gd name="adj" fmla="val 3014"/>
            </a:avLst>
          </a:prstGeom>
          <a:solidFill>
            <a:srgbClr val="161B22"/>
          </a:solidFill>
          <a:ln/>
        </p:spPr>
      </p:sp>
      <p:sp>
        <p:nvSpPr>
          <p:cNvPr id="66" name="Shape 64"/>
          <p:cNvSpPr/>
          <p:nvPr/>
        </p:nvSpPr>
        <p:spPr>
          <a:xfrm>
            <a:off x="9594251" y="1517904"/>
            <a:ext cx="41148" cy="2386965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67" name="Text 65"/>
          <p:cNvSpPr/>
          <p:nvPr/>
        </p:nvSpPr>
        <p:spPr>
          <a:xfrm>
            <a:off x="9831995" y="1700784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9831995" y="2286000"/>
            <a:ext cx="13447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格式定稿</a:t>
            </a:r>
            <a:endParaRPr lang="en-US" sz="1450" dirty="0"/>
          </a:p>
        </p:txBody>
      </p:sp>
      <p:sp>
        <p:nvSpPr>
          <p:cNvPr id="69" name="Text 67"/>
          <p:cNvSpPr/>
          <p:nvPr/>
        </p:nvSpPr>
        <p:spPr>
          <a:xfrm>
            <a:off x="9831995" y="3017520"/>
            <a:ext cx="1344717" cy="63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按期刊要求整理修订模式文档、干净版与逐条回复信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OUTCOMES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工作坊往期学员的三个月随访数据</a:t>
            </a:r>
            <a:endParaRPr lang="en-US" sz="2900" dirty="0"/>
          </a:p>
        </p:txBody>
      </p:sp>
      <p:sp>
        <p:nvSpPr>
          <p:cNvPr id="41" name="Shape 39"/>
          <p:cNvSpPr/>
          <p:nvPr/>
        </p:nvSpPr>
        <p:spPr>
          <a:xfrm>
            <a:off x="777240" y="2249424"/>
            <a:ext cx="2419274" cy="2926080"/>
          </a:xfrm>
          <a:prstGeom prst="roundRect">
            <a:avLst>
              <a:gd name="adj" fmla="val 2268"/>
            </a:avLst>
          </a:prstGeom>
          <a:solidFill>
            <a:srgbClr val="161B22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2286000"/>
            <a:ext cx="41148" cy="285292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033272" y="2487168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文献综述平均耗时下降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14984" y="2935224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62</a:t>
            </a:r>
            <a:pPr indent="0" marL="0">
              <a:buNone/>
            </a:pPr>
            <a:r>
              <a:rPr lang="en-US" sz="1500" b="1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%</a:t>
            </a:r>
            <a:endParaRPr lang="en-US" sz="3800" dirty="0"/>
          </a:p>
        </p:txBody>
      </p:sp>
      <p:sp>
        <p:nvSpPr>
          <p:cNvPr id="45" name="Text 43"/>
          <p:cNvSpPr/>
          <p:nvPr/>
        </p:nvSpPr>
        <p:spPr>
          <a:xfrm>
            <a:off x="1033272" y="4626864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vs 传统流程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3516554" y="2249424"/>
            <a:ext cx="2419274" cy="2926080"/>
          </a:xfrm>
          <a:prstGeom prst="roundRect">
            <a:avLst>
              <a:gd name="adj" fmla="val 2268"/>
            </a:avLst>
          </a:prstGeom>
          <a:solidFill>
            <a:srgbClr val="161B22"/>
          </a:solidFill>
          <a:ln/>
        </p:spPr>
      </p:sp>
      <p:sp>
        <p:nvSpPr>
          <p:cNvPr id="47" name="Shape 45"/>
          <p:cNvSpPr/>
          <p:nvPr/>
        </p:nvSpPr>
        <p:spPr>
          <a:xfrm>
            <a:off x="3516554" y="2286000"/>
            <a:ext cx="41148" cy="285292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8" name="Text 46"/>
          <p:cNvSpPr/>
          <p:nvPr/>
        </p:nvSpPr>
        <p:spPr>
          <a:xfrm>
            <a:off x="3772586" y="2487168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三个月内完成投稿比例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754298" y="2935224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41</a:t>
            </a:r>
            <a:pPr indent="0" marL="0">
              <a:buNone/>
            </a:pPr>
            <a:r>
              <a:rPr lang="en-US" sz="1500" b="1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%</a:t>
            </a:r>
            <a:endParaRPr lang="en-US" sz="3800" dirty="0"/>
          </a:p>
        </p:txBody>
      </p:sp>
      <p:sp>
        <p:nvSpPr>
          <p:cNvPr id="50" name="Text 48"/>
          <p:cNvSpPr/>
          <p:nvPr/>
        </p:nvSpPr>
        <p:spPr>
          <a:xfrm>
            <a:off x="3772586" y="4626864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↑ 12 pt vs 对照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255868" y="2249424"/>
            <a:ext cx="2419274" cy="2926080"/>
          </a:xfrm>
          <a:prstGeom prst="roundRect">
            <a:avLst>
              <a:gd name="adj" fmla="val 2268"/>
            </a:avLst>
          </a:prstGeom>
          <a:solidFill>
            <a:srgbClr val="161B22"/>
          </a:solidFill>
          <a:ln/>
        </p:spPr>
      </p:sp>
      <p:sp>
        <p:nvSpPr>
          <p:cNvPr id="52" name="Shape 50"/>
          <p:cNvSpPr/>
          <p:nvPr/>
        </p:nvSpPr>
        <p:spPr>
          <a:xfrm>
            <a:off x="6255868" y="2286000"/>
            <a:ext cx="41148" cy="285292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3" name="Text 51"/>
          <p:cNvSpPr/>
          <p:nvPr/>
        </p:nvSpPr>
        <p:spPr>
          <a:xfrm>
            <a:off x="6511900" y="2487168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методология相关退稿率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493612" y="2935224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9.3</a:t>
            </a:r>
            <a:pPr indent="0" marL="0">
              <a:buNone/>
            </a:pPr>
            <a:r>
              <a:rPr lang="en-US" sz="1500" b="1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%</a:t>
            </a:r>
            <a:endParaRPr lang="en-US" sz="3800" dirty="0"/>
          </a:p>
        </p:txBody>
      </p:sp>
      <p:sp>
        <p:nvSpPr>
          <p:cNvPr id="55" name="Text 53"/>
          <p:cNvSpPr/>
          <p:nvPr/>
        </p:nvSpPr>
        <p:spPr>
          <a:xfrm>
            <a:off x="6511900" y="4626864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 5.1 pt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8995181" y="2249424"/>
            <a:ext cx="2419274" cy="2926080"/>
          </a:xfrm>
          <a:prstGeom prst="roundRect">
            <a:avLst>
              <a:gd name="adj" fmla="val 2268"/>
            </a:avLst>
          </a:prstGeom>
          <a:solidFill>
            <a:srgbClr val="161B22"/>
          </a:solidFill>
          <a:ln/>
        </p:spPr>
      </p:sp>
      <p:sp>
        <p:nvSpPr>
          <p:cNvPr id="57" name="Shape 55"/>
          <p:cNvSpPr/>
          <p:nvPr/>
        </p:nvSpPr>
        <p:spPr>
          <a:xfrm>
            <a:off x="8995181" y="2286000"/>
            <a:ext cx="41148" cy="285292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8" name="Text 56"/>
          <p:cNvSpPr/>
          <p:nvPr/>
        </p:nvSpPr>
        <p:spPr>
          <a:xfrm>
            <a:off x="9251213" y="2487168"/>
            <a:ext cx="19072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学员净推荐值 NPS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232925" y="2935224"/>
            <a:ext cx="19437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+67</a:t>
            </a:r>
            <a:endParaRPr lang="en-US" sz="3800" dirty="0"/>
          </a:p>
        </p:txBody>
      </p:sp>
      <p:sp>
        <p:nvSpPr>
          <p:cNvPr id="60" name="Text 58"/>
          <p:cNvSpPr/>
          <p:nvPr/>
        </p:nvSpPr>
        <p:spPr>
          <a:xfrm>
            <a:off x="9251213" y="4626864"/>
            <a:ext cx="19072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↑ 上期 +58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3895" y="566928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500" b="1" dirty="0">
                <a:solidFill>
                  <a:srgbClr val="2A313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27500" dirty="0"/>
          </a:p>
        </p:txBody>
      </p:sp>
      <p:sp>
        <p:nvSpPr>
          <p:cNvPr id="39" name="Shape 37"/>
          <p:cNvSpPr/>
          <p:nvPr/>
        </p:nvSpPr>
        <p:spPr>
          <a:xfrm>
            <a:off x="777240" y="530352"/>
            <a:ext cx="1371600" cy="38404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530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11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PART 04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77240" y="2185416"/>
            <a:ext cx="64008" cy="18288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2" name="Text 40"/>
          <p:cNvSpPr/>
          <p:nvPr/>
        </p:nvSpPr>
        <p:spPr>
          <a:xfrm>
            <a:off x="1078992" y="2121408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72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三条不可逾越的红线:</a:t>
            </a:r>
            <a:endParaRPr lang="en-US" sz="4400" dirty="0"/>
          </a:p>
          <a:p>
            <a:pPr indent="0" marL="0">
              <a:lnSpc>
                <a:spcPts val="572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数据安全、科研诚信与患者隐私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1078992" y="44348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任何效率提升都不能以违反期刊政策或泄露患者数据为代价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777240" y="5586984"/>
            <a:ext cx="2467280" cy="50292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724144"/>
            <a:ext cx="246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· 文献综述的范式转移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500552" y="5586984"/>
            <a:ext cx="2467280" cy="50292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47" name="Text 45"/>
          <p:cNvSpPr/>
          <p:nvPr/>
        </p:nvSpPr>
        <p:spPr>
          <a:xfrm>
            <a:off x="3500552" y="5724144"/>
            <a:ext cx="246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· 数据清洗与质量控制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223864" y="5586984"/>
            <a:ext cx="2467280" cy="50292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49" name="Text 47"/>
          <p:cNvSpPr/>
          <p:nvPr/>
        </p:nvSpPr>
        <p:spPr>
          <a:xfrm>
            <a:off x="6223864" y="5724144"/>
            <a:ext cx="246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· 统计分析的人机协作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947175" y="5586984"/>
            <a:ext cx="2467280" cy="5029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1" name="Text 49"/>
          <p:cNvSpPr/>
          <p:nvPr/>
        </p:nvSpPr>
        <p:spPr>
          <a:xfrm>
            <a:off x="8947175" y="5724144"/>
            <a:ext cx="246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· 投稿与同行评议应对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16916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THANKS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7240" y="2240280"/>
            <a:ext cx="10637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368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把今天学到的流程,</a:t>
            </a:r>
            <a:endParaRPr lang="en-US" sz="4400" dirty="0"/>
          </a:p>
          <a:p>
            <a:pPr indent="0" marL="0">
              <a:lnSpc>
                <a:spcPts val="5368"/>
              </a:lnSpc>
              <a:buNone/>
            </a:pPr>
            <a:r>
              <a:rPr lang="en-US" sz="4400" b="1" dirty="0">
                <a:solidFill>
                  <a:srgbClr val="2BB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用在你下一篇论文上</a:t>
            </a:r>
            <a:endParaRPr lang="en-US" sz="4400" dirty="0"/>
          </a:p>
        </p:txBody>
      </p:sp>
      <p:sp>
        <p:nvSpPr>
          <p:cNvPr id="40" name="Shape 38"/>
          <p:cNvSpPr/>
          <p:nvPr/>
        </p:nvSpPr>
        <p:spPr>
          <a:xfrm>
            <a:off x="777240" y="3977640"/>
            <a:ext cx="1014984" cy="50292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224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课件、清洗脚本模板与回复信模板已上传学员群,三个月内可预约一对一答疑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77240" y="4983480"/>
            <a:ext cx="5697284" cy="457200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4983480"/>
            <a:ext cx="5697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11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vicmedical.com/workshop · 微信 VICMED2026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VIC MEDICAL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布局压力测试</dc:title>
  <dc:subject>PptxGenJS Presentation</dc:subject>
  <dc:creator>Victor</dc:creator>
  <cp:lastModifiedBy>Victor</cp:lastModifiedBy>
  <cp:revision>1</cp:revision>
  <dcterms:created xsi:type="dcterms:W3CDTF">2026-07-06T00:36:55Z</dcterms:created>
  <dcterms:modified xsi:type="dcterms:W3CDTF">2026-07-06T00:36:55Z</dcterms:modified>
</cp:coreProperties>
</file>