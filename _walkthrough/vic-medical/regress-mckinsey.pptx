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566928"/>
            <a:ext cx="10637215" cy="0"/>
          </a:xfrm>
          <a:prstGeom prst="line">
            <a:avLst/>
          </a:prstGeom>
          <a:noFill/>
          <a:ln w="13970">
            <a:solidFill>
              <a:srgbClr val="11111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23774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6B72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KEYNOTE 2026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77240" y="2286000"/>
            <a:ext cx="926561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736"/>
              </a:lnSpc>
              <a:buNone/>
            </a:pPr>
            <a:r>
              <a:rPr lang="en-US" sz="3700" b="1" dirty="0">
                <a:solidFill>
                  <a:srgbClr val="11111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把想法</a:t>
            </a:r>
            <a:pPr indent="0" marL="0">
              <a:lnSpc>
                <a:spcPts val="4736"/>
              </a:lnSpc>
              <a:buNone/>
            </a:pPr>
            <a:r>
              <a:rPr lang="en-US" sz="3700" b="1" dirty="0">
                <a:solidFill>
                  <a:srgbClr val="24344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讲清楚</a:t>
            </a:r>
            <a:endParaRPr lang="en-US" sz="3700" dirty="0"/>
          </a:p>
        </p:txBody>
      </p:sp>
      <p:sp>
        <p:nvSpPr>
          <p:cNvPr id="5" name="Text 3"/>
          <p:cNvSpPr/>
          <p:nvPr/>
        </p:nvSpPr>
        <p:spPr>
          <a:xfrm>
            <a:off x="777240" y="4114800"/>
            <a:ext cx="83512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47556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一句话副标题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" y="5989320"/>
            <a:ext cx="10637215" cy="0"/>
          </a:xfrm>
          <a:prstGeom prst="line">
            <a:avLst/>
          </a:prstGeom>
          <a:noFill/>
          <a:ln w="12700">
            <a:solidFill>
              <a:srgbClr val="D8DE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6144768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主讲:某某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858000" y="6144768"/>
            <a:ext cx="45564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仅供内部讨论 · 机密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23774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6B72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方法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728655" y="237744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77240" y="566928"/>
            <a:ext cx="10637215" cy="0"/>
          </a:xfrm>
          <a:prstGeom prst="line">
            <a:avLst/>
          </a:prstGeom>
          <a:noFill/>
          <a:ln w="13970">
            <a:solidFill>
              <a:srgbClr val="11111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749808"/>
            <a:ext cx="106372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125"/>
              </a:lnSpc>
              <a:buNone/>
            </a:pPr>
            <a:r>
              <a:rPr lang="en-US" sz="2500" b="1" dirty="0">
                <a:solidFill>
                  <a:srgbClr val="11111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三个步骤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777240" y="2148840"/>
            <a:ext cx="10637215" cy="0"/>
          </a:xfrm>
          <a:prstGeom prst="line">
            <a:avLst/>
          </a:prstGeom>
          <a:noFill/>
          <a:ln w="17780">
            <a:solidFill>
              <a:srgbClr val="D8DE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96696" y="2409444"/>
            <a:ext cx="5303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66" b="1" dirty="0">
                <a:solidFill>
                  <a:srgbClr val="4755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</a:t>
            </a:r>
            <a:endParaRPr lang="en-US" sz="1766" dirty="0"/>
          </a:p>
        </p:txBody>
      </p:sp>
      <p:sp>
        <p:nvSpPr>
          <p:cNvPr id="8" name="Text 6"/>
          <p:cNvSpPr/>
          <p:nvPr/>
        </p:nvSpPr>
        <p:spPr>
          <a:xfrm>
            <a:off x="1682496" y="2148840"/>
            <a:ext cx="4023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对齐目标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45375" y="2148840"/>
            <a:ext cx="3886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受众、时长、目标、用途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77240" y="3273552"/>
            <a:ext cx="10637215" cy="0"/>
          </a:xfrm>
          <a:prstGeom prst="line">
            <a:avLst/>
          </a:prstGeom>
          <a:noFill/>
          <a:ln w="17780">
            <a:solidFill>
              <a:srgbClr val="D8DE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96696" y="3534156"/>
            <a:ext cx="5303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66" b="1" dirty="0">
                <a:solidFill>
                  <a:srgbClr val="4755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</a:t>
            </a:r>
            <a:endParaRPr lang="en-US" sz="1766" dirty="0"/>
          </a:p>
        </p:txBody>
      </p:sp>
      <p:sp>
        <p:nvSpPr>
          <p:cNvPr id="12" name="Text 10"/>
          <p:cNvSpPr/>
          <p:nvPr/>
        </p:nvSpPr>
        <p:spPr>
          <a:xfrm>
            <a:off x="1682496" y="3273552"/>
            <a:ext cx="4023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锁定风格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345375" y="3273552"/>
            <a:ext cx="3886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spec-lock 固化决策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77240" y="4398264"/>
            <a:ext cx="10637215" cy="0"/>
          </a:xfrm>
          <a:prstGeom prst="line">
            <a:avLst/>
          </a:prstGeom>
          <a:noFill/>
          <a:ln w="17780">
            <a:solidFill>
              <a:srgbClr val="D8DE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96696" y="4658868"/>
            <a:ext cx="5303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66" b="1" dirty="0">
                <a:solidFill>
                  <a:srgbClr val="4755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</a:t>
            </a:r>
            <a:endParaRPr lang="en-US" sz="1766" dirty="0"/>
          </a:p>
        </p:txBody>
      </p:sp>
      <p:sp>
        <p:nvSpPr>
          <p:cNvPr id="16" name="Text 14"/>
          <p:cNvSpPr/>
          <p:nvPr/>
        </p:nvSpPr>
        <p:spPr>
          <a:xfrm>
            <a:off x="1682496" y="4398264"/>
            <a:ext cx="4023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逐页生成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345375" y="4398264"/>
            <a:ext cx="3886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每页 QA 自检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777240" y="64190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资料来源: REGRESSION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23774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6B72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支柱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728655" y="237744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77240" y="566928"/>
            <a:ext cx="10637215" cy="0"/>
          </a:xfrm>
          <a:prstGeom prst="line">
            <a:avLst/>
          </a:prstGeom>
          <a:noFill/>
          <a:ln w="13970">
            <a:solidFill>
              <a:srgbClr val="11111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749808"/>
            <a:ext cx="106372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125"/>
              </a:lnSpc>
              <a:buNone/>
            </a:pPr>
            <a:r>
              <a:rPr lang="en-US" sz="2500" b="1" dirty="0">
                <a:solidFill>
                  <a:srgbClr val="11111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三个支柱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777240" y="2148840"/>
            <a:ext cx="3332378" cy="0"/>
          </a:xfrm>
          <a:prstGeom prst="line">
            <a:avLst/>
          </a:prstGeom>
          <a:noFill/>
          <a:ln w="17780">
            <a:solidFill>
              <a:srgbClr val="D8DE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2386584"/>
            <a:ext cx="5120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93" b="1" dirty="0">
                <a:solidFill>
                  <a:srgbClr val="4755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</a:t>
            </a:r>
            <a:endParaRPr lang="en-US" sz="1693" dirty="0"/>
          </a:p>
        </p:txBody>
      </p:sp>
      <p:sp>
        <p:nvSpPr>
          <p:cNvPr id="8" name="Text 6"/>
          <p:cNvSpPr/>
          <p:nvPr/>
        </p:nvSpPr>
        <p:spPr>
          <a:xfrm>
            <a:off x="1051560" y="2971800"/>
            <a:ext cx="278373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主题与版式分离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51560" y="3749040"/>
            <a:ext cx="27837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版式函数只引用令牌,任意搭配不破相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429658" y="2148840"/>
            <a:ext cx="3332378" cy="0"/>
          </a:xfrm>
          <a:prstGeom prst="line">
            <a:avLst/>
          </a:prstGeom>
          <a:noFill/>
          <a:ln w="17780">
            <a:solidFill>
              <a:srgbClr val="D8DE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03978" y="2386584"/>
            <a:ext cx="5120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93" b="1" dirty="0">
                <a:solidFill>
                  <a:srgbClr val="4755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</a:t>
            </a:r>
            <a:endParaRPr lang="en-US" sz="1693" dirty="0"/>
          </a:p>
        </p:txBody>
      </p:sp>
      <p:sp>
        <p:nvSpPr>
          <p:cNvPr id="12" name="Text 10"/>
          <p:cNvSpPr/>
          <p:nvPr/>
        </p:nvSpPr>
        <p:spPr>
          <a:xfrm>
            <a:off x="4703978" y="2971800"/>
            <a:ext cx="278373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版式 DNA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703978" y="3749040"/>
            <a:ext cx="27837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每个主题有专属构图,不只是换色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082077" y="2148840"/>
            <a:ext cx="3332378" cy="0"/>
          </a:xfrm>
          <a:prstGeom prst="line">
            <a:avLst/>
          </a:prstGeom>
          <a:noFill/>
          <a:ln w="17780">
            <a:solidFill>
              <a:srgbClr val="D8DE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56397" y="2386584"/>
            <a:ext cx="5120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93" b="1" dirty="0">
                <a:solidFill>
                  <a:srgbClr val="4755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</a:t>
            </a:r>
            <a:endParaRPr lang="en-US" sz="1693" dirty="0"/>
          </a:p>
        </p:txBody>
      </p:sp>
      <p:sp>
        <p:nvSpPr>
          <p:cNvPr id="16" name="Text 14"/>
          <p:cNvSpPr/>
          <p:nvPr/>
        </p:nvSpPr>
        <p:spPr>
          <a:xfrm>
            <a:off x="8356397" y="2971800"/>
            <a:ext cx="278373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HITL 流程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356397" y="3749040"/>
            <a:ext cx="27837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九步固定流程,关键节点等确认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77240" y="64190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资料来源: REGRESSION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23774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6B72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计划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728655" y="237744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77240" y="566928"/>
            <a:ext cx="10637215" cy="0"/>
          </a:xfrm>
          <a:prstGeom prst="line">
            <a:avLst/>
          </a:prstGeom>
          <a:noFill/>
          <a:ln w="13970">
            <a:solidFill>
              <a:srgbClr val="11111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749808"/>
            <a:ext cx="106372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125"/>
              </a:lnSpc>
              <a:buNone/>
            </a:pPr>
            <a:r>
              <a:rPr lang="en-US" sz="2500" b="1" dirty="0">
                <a:solidFill>
                  <a:srgbClr val="11111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四周计划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2106892" y="3892233"/>
            <a:ext cx="7977911" cy="0"/>
          </a:xfrm>
          <a:prstGeom prst="line">
            <a:avLst/>
          </a:prstGeom>
          <a:noFill/>
          <a:ln w="25400">
            <a:solidFill>
              <a:srgbClr val="D8DE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015452" y="3800793"/>
            <a:ext cx="182880" cy="182880"/>
          </a:xfrm>
          <a:prstGeom prst="ellipse">
            <a:avLst/>
          </a:prstGeom>
          <a:solidFill>
            <a:srgbClr val="243447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3343593"/>
            <a:ext cx="2476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50" kern="0" dirty="0">
                <a:solidFill>
                  <a:srgbClr val="2434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68680" y="4148265"/>
            <a:ext cx="24764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访谈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14400" y="4669473"/>
            <a:ext cx="238498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05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对齐受众与目标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74756" y="3800793"/>
            <a:ext cx="182880" cy="182880"/>
          </a:xfrm>
          <a:prstGeom prst="ellipse">
            <a:avLst/>
          </a:prstGeom>
          <a:solidFill>
            <a:srgbClr val="243447"/>
          </a:solidFill>
          <a:ln/>
        </p:spPr>
      </p:sp>
      <p:sp>
        <p:nvSpPr>
          <p:cNvPr id="12" name="Text 10"/>
          <p:cNvSpPr/>
          <p:nvPr/>
        </p:nvSpPr>
        <p:spPr>
          <a:xfrm>
            <a:off x="3527984" y="3343593"/>
            <a:ext cx="2476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50" kern="0" dirty="0">
                <a:solidFill>
                  <a:srgbClr val="2434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527984" y="4148265"/>
            <a:ext cx="24764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规划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573704" y="4669473"/>
            <a:ext cx="238498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05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页面清单与版式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334060" y="3800793"/>
            <a:ext cx="182880" cy="182880"/>
          </a:xfrm>
          <a:prstGeom prst="ellipse">
            <a:avLst/>
          </a:prstGeom>
          <a:solidFill>
            <a:srgbClr val="243447"/>
          </a:solidFill>
          <a:ln/>
        </p:spPr>
      </p:sp>
      <p:sp>
        <p:nvSpPr>
          <p:cNvPr id="16" name="Text 14"/>
          <p:cNvSpPr/>
          <p:nvPr/>
        </p:nvSpPr>
        <p:spPr>
          <a:xfrm>
            <a:off x="6187288" y="3343593"/>
            <a:ext cx="2476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50" kern="0" dirty="0">
                <a:solidFill>
                  <a:srgbClr val="2434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187288" y="4148265"/>
            <a:ext cx="24764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生成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233008" y="4669473"/>
            <a:ext cx="238498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05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spec-lock 一次成稿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993363" y="3800793"/>
            <a:ext cx="182880" cy="182880"/>
          </a:xfrm>
          <a:prstGeom prst="ellipse">
            <a:avLst/>
          </a:prstGeom>
          <a:solidFill>
            <a:srgbClr val="D8DEE8"/>
          </a:solidFill>
          <a:ln/>
        </p:spPr>
      </p:sp>
      <p:sp>
        <p:nvSpPr>
          <p:cNvPr id="20" name="Text 18"/>
          <p:cNvSpPr/>
          <p:nvPr/>
        </p:nvSpPr>
        <p:spPr>
          <a:xfrm>
            <a:off x="8846591" y="3343593"/>
            <a:ext cx="2476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50" kern="0" dirty="0">
                <a:solidFill>
                  <a:srgbClr val="2434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W4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846591" y="4148265"/>
            <a:ext cx="24764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交付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892311" y="4669473"/>
            <a:ext cx="238498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05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QA 后交付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77240" y="64190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资料来源: REGRESSION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23774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6B72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指标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728655" y="237744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77240" y="566928"/>
            <a:ext cx="10637215" cy="0"/>
          </a:xfrm>
          <a:prstGeom prst="line">
            <a:avLst/>
          </a:prstGeom>
          <a:noFill/>
          <a:ln w="13970">
            <a:solidFill>
              <a:srgbClr val="11111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749808"/>
            <a:ext cx="106372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125"/>
              </a:lnSpc>
              <a:buNone/>
            </a:pPr>
            <a:r>
              <a:rPr lang="en-US" sz="2500" b="1" dirty="0">
                <a:solidFill>
                  <a:srgbClr val="11111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两个指标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777240" y="2583180"/>
            <a:ext cx="5158588" cy="0"/>
          </a:xfrm>
          <a:prstGeom prst="line">
            <a:avLst/>
          </a:prstGeom>
          <a:noFill/>
          <a:ln w="17780">
            <a:solidFill>
              <a:srgbClr val="D8DE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33272" y="2820924"/>
            <a:ext cx="46465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50" kern="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REVENUE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014984" y="3268980"/>
            <a:ext cx="46831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1,248</a:t>
            </a:r>
            <a:pPr indent="0" marL="0">
              <a:buNone/>
            </a:pPr>
            <a:r>
              <a:rPr lang="en-US" sz="1500" b="1" dirty="0">
                <a:solidFill>
                  <a:srgbClr val="4755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K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1033272" y="4960620"/>
            <a:ext cx="46465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4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↑ 38% YoY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255868" y="2583180"/>
            <a:ext cx="5158588" cy="0"/>
          </a:xfrm>
          <a:prstGeom prst="line">
            <a:avLst/>
          </a:prstGeom>
          <a:noFill/>
          <a:ln w="17780">
            <a:solidFill>
              <a:srgbClr val="D8DE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11900" y="2820924"/>
            <a:ext cx="46465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50" kern="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CHURN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493612" y="3268980"/>
            <a:ext cx="46831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2.1</a:t>
            </a:r>
            <a:pPr indent="0" marL="0">
              <a:buNone/>
            </a:pPr>
            <a:r>
              <a:rPr lang="en-US" sz="1500" b="1" dirty="0">
                <a:solidFill>
                  <a:srgbClr val="4755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%</a:t>
            </a:r>
            <a:endParaRPr lang="en-US" sz="3800" dirty="0"/>
          </a:p>
        </p:txBody>
      </p:sp>
      <p:sp>
        <p:nvSpPr>
          <p:cNvPr id="13" name="Text 11"/>
          <p:cNvSpPr/>
          <p:nvPr/>
        </p:nvSpPr>
        <p:spPr>
          <a:xfrm>
            <a:off x="6511900" y="4960620"/>
            <a:ext cx="46465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4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↓ 0.4 pt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777240" y="64190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资料来源: REGRESSION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回归测试</dc:title>
  <dc:subject>PptxGenJS Presentation</dc:subject>
  <dc:creator>Victor</dc:creator>
  <cp:lastModifiedBy>Victor</cp:lastModifiedBy>
  <cp:revision>1</cp:revision>
  <dcterms:created xsi:type="dcterms:W3CDTF">2026-07-06T00:37:41Z</dcterms:created>
  <dcterms:modified xsi:type="dcterms:W3CDTF">2026-07-06T00:37:41Z</dcterms:modified>
</cp:coreProperties>
</file>