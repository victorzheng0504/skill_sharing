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566928" cy="566928"/>
          </a:xfrm>
          <a:prstGeom prst="rect">
            <a:avLst/>
          </a:prstGeom>
          <a:solidFill>
            <a:srgbClr val="FFD500"/>
          </a:solidFill>
          <a:ln/>
        </p:spPr>
      </p:sp>
      <p:sp>
        <p:nvSpPr>
          <p:cNvPr id="3" name="Text 1"/>
          <p:cNvSpPr/>
          <p:nvPr/>
        </p:nvSpPr>
        <p:spPr>
          <a:xfrm>
            <a:off x="7619695" y="6583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C9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 发布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spc="400" kern="0" dirty="0">
                <a:solidFill>
                  <a:srgbClr val="C9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NEURO-REHAB ROBOTICS</a:t>
            </a:r>
            <a:endParaRPr lang="en-US" sz="1310" dirty="0"/>
          </a:p>
        </p:txBody>
      </p:sp>
      <p:sp>
        <p:nvSpPr>
          <p:cNvPr id="5" name="Text 3"/>
          <p:cNvSpPr/>
          <p:nvPr/>
        </p:nvSpPr>
        <p:spPr>
          <a:xfrm>
            <a:off x="740664" y="2423160"/>
            <a:ext cx="1091153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770"/>
              </a:lnSpc>
              <a:buNone/>
            </a:pPr>
            <a:r>
              <a:rPr lang="en-US" sz="65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让站立</a:t>
            </a:r>
            <a:pPr indent="0" marL="0">
              <a:lnSpc>
                <a:spcPts val="6770"/>
              </a:lnSpc>
              <a:buNone/>
            </a:pPr>
            <a:r>
              <a:rPr lang="en-US" sz="6510" b="1" dirty="0">
                <a:solidFill>
                  <a:srgbClr val="FFD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重新成为选项</a:t>
            </a:r>
            <a:endParaRPr lang="en-US" sz="6510" dirty="0"/>
          </a:p>
        </p:txBody>
      </p:sp>
      <p:sp>
        <p:nvSpPr>
          <p:cNvPr id="6" name="Text 4"/>
          <p:cNvSpPr/>
          <p:nvPr/>
        </p:nvSpPr>
        <p:spPr>
          <a:xfrm>
            <a:off x="777240" y="52578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9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面向 T4 以下完全性脊髓损伤的可穿戴步行外骨骼。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777240" y="6199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主讲:康复工程团队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FFD500"/>
          </a:solidFill>
          <a:ln/>
        </p:spPr>
      </p:sp>
      <p:sp>
        <p:nvSpPr>
          <p:cNvPr id="9" name="Text 7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 · 目录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本次汇报</a:t>
            </a:r>
            <a:endParaRPr lang="en-US" sz="389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3362858" cy="15544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242316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2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42" dirty="0"/>
          </a:p>
        </p:txBody>
      </p:sp>
      <p:sp>
        <p:nvSpPr>
          <p:cNvPr id="7" name="Text 5"/>
          <p:cNvSpPr/>
          <p:nvPr/>
        </p:nvSpPr>
        <p:spPr>
          <a:xfrm>
            <a:off x="1033272" y="289864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疾病负担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1033272" y="331927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流行病学与现状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4414418" y="2240280"/>
            <a:ext cx="3362858" cy="15544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0" name="Text 8"/>
          <p:cNvSpPr/>
          <p:nvPr/>
        </p:nvSpPr>
        <p:spPr>
          <a:xfrm>
            <a:off x="4670450" y="242316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2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42" dirty="0"/>
          </a:p>
        </p:txBody>
      </p:sp>
      <p:sp>
        <p:nvSpPr>
          <p:cNvPr id="11" name="Text 9"/>
          <p:cNvSpPr/>
          <p:nvPr/>
        </p:nvSpPr>
        <p:spPr>
          <a:xfrm>
            <a:off x="4670450" y="289864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诊疗路径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4670450" y="331927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从识别到干预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8051597" y="2240280"/>
            <a:ext cx="3362858" cy="15544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4" name="Text 12"/>
          <p:cNvSpPr/>
          <p:nvPr/>
        </p:nvSpPr>
        <p:spPr>
          <a:xfrm>
            <a:off x="8307629" y="242316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2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42" dirty="0"/>
          </a:p>
        </p:txBody>
      </p:sp>
      <p:sp>
        <p:nvSpPr>
          <p:cNvPr id="15" name="Text 13"/>
          <p:cNvSpPr/>
          <p:nvPr/>
        </p:nvSpPr>
        <p:spPr>
          <a:xfrm>
            <a:off x="8307629" y="289864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关键指标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8307629" y="331927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疗效与安全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3362858" cy="15544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8" name="Text 16"/>
          <p:cNvSpPr/>
          <p:nvPr/>
        </p:nvSpPr>
        <p:spPr>
          <a:xfrm>
            <a:off x="1033272" y="425196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2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42" dirty="0"/>
          </a:p>
        </p:txBody>
      </p:sp>
      <p:sp>
        <p:nvSpPr>
          <p:cNvPr id="19" name="Text 17"/>
          <p:cNvSpPr/>
          <p:nvPr/>
        </p:nvSpPr>
        <p:spPr>
          <a:xfrm>
            <a:off x="1033272" y="472744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现存问题</a:t>
            </a:r>
            <a:endParaRPr lang="en-US" sz="1580" dirty="0"/>
          </a:p>
        </p:txBody>
      </p:sp>
      <p:sp>
        <p:nvSpPr>
          <p:cNvPr id="20" name="Text 18"/>
          <p:cNvSpPr/>
          <p:nvPr/>
        </p:nvSpPr>
        <p:spPr>
          <a:xfrm>
            <a:off x="1033272" y="514807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瓶颈与风险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4414418" y="4069080"/>
            <a:ext cx="3362858" cy="15544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22" name="Text 20"/>
          <p:cNvSpPr/>
          <p:nvPr/>
        </p:nvSpPr>
        <p:spPr>
          <a:xfrm>
            <a:off x="4670450" y="425196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2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642" dirty="0"/>
          </a:p>
        </p:txBody>
      </p:sp>
      <p:sp>
        <p:nvSpPr>
          <p:cNvPr id="23" name="Text 21"/>
          <p:cNvSpPr/>
          <p:nvPr/>
        </p:nvSpPr>
        <p:spPr>
          <a:xfrm>
            <a:off x="4670450" y="472744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改进方案</a:t>
            </a:r>
            <a:endParaRPr lang="en-US" sz="1580" dirty="0"/>
          </a:p>
        </p:txBody>
      </p:sp>
      <p:sp>
        <p:nvSpPr>
          <p:cNvPr id="24" name="Text 22"/>
          <p:cNvSpPr/>
          <p:nvPr/>
        </p:nvSpPr>
        <p:spPr>
          <a:xfrm>
            <a:off x="4670450" y="514807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下一步计划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8051597" y="4069080"/>
            <a:ext cx="3362858" cy="15544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26" name="Text 24"/>
          <p:cNvSpPr/>
          <p:nvPr/>
        </p:nvSpPr>
        <p:spPr>
          <a:xfrm>
            <a:off x="8307629" y="425196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2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642" dirty="0"/>
          </a:p>
        </p:txBody>
      </p:sp>
      <p:sp>
        <p:nvSpPr>
          <p:cNvPr id="27" name="Text 25"/>
          <p:cNvSpPr/>
          <p:nvPr/>
        </p:nvSpPr>
        <p:spPr>
          <a:xfrm>
            <a:off x="8307629" y="472744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资源需求</a:t>
            </a:r>
            <a:endParaRPr lang="en-US" sz="1580" dirty="0"/>
          </a:p>
        </p:txBody>
      </p:sp>
      <p:sp>
        <p:nvSpPr>
          <p:cNvPr id="28" name="Text 26"/>
          <p:cNvSpPr/>
          <p:nvPr/>
        </p:nvSpPr>
        <p:spPr>
          <a:xfrm>
            <a:off x="8307629" y="514807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投入与时间表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0" name="Text 28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" dirty="0"/>
          </a:p>
        </p:txBody>
      </p:sp>
      <p:sp>
        <p:nvSpPr>
          <p:cNvPr id="31" name="Text 29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神经康复外骨骼 · 产品发布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502920"/>
            <a:ext cx="6400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3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380" dirty="0"/>
          </a:p>
        </p:txBody>
      </p:sp>
      <p:sp>
        <p:nvSpPr>
          <p:cNvPr id="3" name="Shape 1"/>
          <p:cNvSpPr/>
          <p:nvPr/>
        </p:nvSpPr>
        <p:spPr>
          <a:xfrm>
            <a:off x="777240" y="4160520"/>
            <a:ext cx="1005840" cy="128016"/>
          </a:xfrm>
          <a:prstGeom prst="rect">
            <a:avLst/>
          </a:prstGeom>
          <a:solidFill>
            <a:srgbClr val="FFD5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4348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400" kern="0" dirty="0">
                <a:solidFill>
                  <a:srgbClr val="C9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ONE</a:t>
            </a:r>
            <a:endParaRPr lang="en-US" sz="1210" dirty="0"/>
          </a:p>
        </p:txBody>
      </p:sp>
      <p:sp>
        <p:nvSpPr>
          <p:cNvPr id="5" name="Text 3"/>
          <p:cNvSpPr/>
          <p:nvPr/>
        </p:nvSpPr>
        <p:spPr>
          <a:xfrm>
            <a:off x="777240" y="4846320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疾病负担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5943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dirty="0">
                <a:solidFill>
                  <a:srgbClr val="C9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脊髓损伤的流行病学与临床现状</a:t>
            </a:r>
            <a:endParaRPr lang="en-US" sz="13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" y="1371600"/>
            <a:ext cx="108200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124"/>
              </a:lnSpc>
              <a:buNone/>
            </a:pPr>
            <a:r>
              <a:rPr lang="en-US" sz="56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早识别、早干预,</a:t>
            </a:r>
            <a:endParaRPr lang="en-US" sz="5670" dirty="0"/>
          </a:p>
          <a:p>
            <a:pPr indent="0" marL="0">
              <a:lnSpc>
                <a:spcPts val="6124"/>
              </a:lnSpc>
              <a:buNone/>
            </a:pPr>
            <a:r>
              <a:rPr lang="en-US" sz="5670" b="1" dirty="0">
                <a:solidFill>
                  <a:srgbClr val="FFD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是改变脊髓损伤结局的关键</a:t>
            </a:r>
            <a:endParaRPr lang="en-US" sz="5670" dirty="0"/>
          </a:p>
        </p:txBody>
      </p:sp>
      <p:sp>
        <p:nvSpPr>
          <p:cNvPr id="3" name="Shape 1"/>
          <p:cNvSpPr/>
          <p:nvPr/>
        </p:nvSpPr>
        <p:spPr>
          <a:xfrm>
            <a:off x="777240" y="4892040"/>
            <a:ext cx="2011680" cy="182880"/>
          </a:xfrm>
          <a:prstGeom prst="rect">
            <a:avLst/>
          </a:prstGeom>
          <a:solidFill>
            <a:srgbClr val="FFD5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349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C9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时间窗决定神经功能的可挽救程度</a:t>
            </a:r>
            <a:endParaRPr lang="en-US" sz="1580" dirty="0"/>
          </a:p>
        </p:txBody>
      </p:sp>
      <p:sp>
        <p:nvSpPr>
          <p:cNvPr id="5" name="Shape 3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C9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神经康复外骨骼 · 产品发布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诊疗路径 · PATHWAY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脊髓损伤的四步管理</a:t>
            </a:r>
            <a:endParaRPr lang="en-US" sz="389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10637215" cy="836676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558034"/>
            <a:ext cx="201168" cy="20116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7" name="Text 5"/>
          <p:cNvSpPr/>
          <p:nvPr/>
        </p:nvSpPr>
        <p:spPr>
          <a:xfrm>
            <a:off x="1517904" y="2240280"/>
            <a:ext cx="402336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早期识别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7345375" y="2240280"/>
            <a:ext cx="388620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基于典型症状与量表快速筛查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777240" y="3241548"/>
            <a:ext cx="10637215" cy="836676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559302"/>
            <a:ext cx="201168" cy="20116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1" name="Text 9"/>
          <p:cNvSpPr/>
          <p:nvPr/>
        </p:nvSpPr>
        <p:spPr>
          <a:xfrm>
            <a:off x="1517904" y="3241548"/>
            <a:ext cx="402336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确诊分型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7345375" y="3241548"/>
            <a:ext cx="388620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影像 + 电生理 + 抗体检测</a:t>
            </a:r>
            <a:endParaRPr lang="en-US" sz="1310" dirty="0"/>
          </a:p>
        </p:txBody>
      </p:sp>
      <p:sp>
        <p:nvSpPr>
          <p:cNvPr id="13" name="Shape 11"/>
          <p:cNvSpPr/>
          <p:nvPr/>
        </p:nvSpPr>
        <p:spPr>
          <a:xfrm>
            <a:off x="777240" y="4242816"/>
            <a:ext cx="10637215" cy="836676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560570"/>
            <a:ext cx="201168" cy="20116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5" name="Text 13"/>
          <p:cNvSpPr/>
          <p:nvPr/>
        </p:nvSpPr>
        <p:spPr>
          <a:xfrm>
            <a:off x="1517904" y="4242816"/>
            <a:ext cx="402336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规范治疗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7345375" y="4242816"/>
            <a:ext cx="388620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急性期干预与长期维持并重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777240" y="5244084"/>
            <a:ext cx="10637215" cy="836676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5561838"/>
            <a:ext cx="201168" cy="20116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9" name="Text 17"/>
          <p:cNvSpPr/>
          <p:nvPr/>
        </p:nvSpPr>
        <p:spPr>
          <a:xfrm>
            <a:off x="1517904" y="5244084"/>
            <a:ext cx="402336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康复随访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7345375" y="5244084"/>
            <a:ext cx="388620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功能评估与并发症防控</a:t>
            </a:r>
            <a:endParaRPr lang="en-US" sz="1310" dirty="0"/>
          </a:p>
        </p:txBody>
      </p:sp>
      <p:sp>
        <p:nvSpPr>
          <p:cNvPr id="21" name="Text 19"/>
          <p:cNvSpPr/>
          <p:nvPr/>
        </p:nvSpPr>
        <p:spPr>
          <a:xfrm>
            <a:off x="777240" y="6071616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i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路径依据最新专家共识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神经康复外骨骼 · 产品发布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机制 · MECHANISM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发病机制与干预靶点</a:t>
            </a:r>
            <a:endParaRPr lang="en-US" sz="389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5135728" cy="38404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96312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病理基础</a:t>
            </a:r>
            <a:endParaRPr lang="en-US" sz="1790" dirty="0"/>
          </a:p>
        </p:txBody>
      </p:sp>
      <p:sp>
        <p:nvSpPr>
          <p:cNvPr id="7" name="Text 5"/>
          <p:cNvSpPr/>
          <p:nvPr/>
        </p:nvSpPr>
        <p:spPr>
          <a:xfrm>
            <a:off x="1097280" y="3081528"/>
            <a:ext cx="449564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7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神经元/髓鞘损伤</a:t>
            </a:r>
            <a:endParaRPr lang="en-US" sz="137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7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炎症与免疫异常</a:t>
            </a:r>
            <a:endParaRPr lang="en-US" sz="137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7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神经环路受累</a:t>
            </a:r>
            <a:endParaRPr lang="en-US" sz="1370" dirty="0"/>
          </a:p>
        </p:txBody>
      </p:sp>
      <p:sp>
        <p:nvSpPr>
          <p:cNvPr id="8" name="Shape 6"/>
          <p:cNvSpPr/>
          <p:nvPr/>
        </p:nvSpPr>
        <p:spPr>
          <a:xfrm>
            <a:off x="6278728" y="2240280"/>
            <a:ext cx="5135728" cy="3840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6598768" y="2496312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关键指标(示例)</a:t>
            </a:r>
            <a:endParaRPr lang="en-US" sz="1790" dirty="0"/>
          </a:p>
        </p:txBody>
      </p:sp>
      <p:sp>
        <p:nvSpPr>
          <p:cNvPr id="10" name="Text 8"/>
          <p:cNvSpPr/>
          <p:nvPr/>
        </p:nvSpPr>
        <p:spPr>
          <a:xfrm>
            <a:off x="6598768" y="3081528"/>
            <a:ext cx="449564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36"/>
              </a:lnSpc>
              <a:buNone/>
            </a:pPr>
            <a:r>
              <a:rPr lang="en-US" sz="1210" dirty="0">
                <a:solidFill>
                  <a:srgbClr val="F0F0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onset  : 急性/亚急性</a:t>
            </a:r>
            <a:endParaRPr lang="en-US" sz="1210" dirty="0"/>
          </a:p>
          <a:p>
            <a:pPr indent="0" marL="0">
              <a:lnSpc>
                <a:spcPts val="1936"/>
              </a:lnSpc>
              <a:buNone/>
            </a:pPr>
            <a:r>
              <a:rPr lang="en-US" sz="1210" dirty="0">
                <a:solidFill>
                  <a:srgbClr val="F0F0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 : 免疫调节</a:t>
            </a:r>
            <a:endParaRPr lang="en-US" sz="1210" dirty="0"/>
          </a:p>
          <a:p>
            <a:pPr indent="0" marL="0">
              <a:lnSpc>
                <a:spcPts val="1936"/>
              </a:lnSpc>
              <a:buNone/>
            </a:pPr>
            <a:r>
              <a:rPr lang="en-US" sz="1210" dirty="0">
                <a:solidFill>
                  <a:srgbClr val="F0F0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window : 4.5h</a:t>
            </a:r>
            <a:endParaRPr lang="en-US" sz="1210" dirty="0"/>
          </a:p>
          <a:p>
            <a:pPr indent="0" marL="0">
              <a:lnSpc>
                <a:spcPts val="1936"/>
              </a:lnSpc>
              <a:buNone/>
            </a:pPr>
            <a:r>
              <a:rPr lang="en-US" sz="1210" dirty="0">
                <a:solidFill>
                  <a:srgbClr val="F0F0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  : mRS 0-2</a:t>
            </a:r>
            <a:endParaRPr lang="en-US" sz="1210" dirty="0"/>
          </a:p>
        </p:txBody>
      </p:sp>
      <p:sp>
        <p:nvSpPr>
          <p:cNvPr id="11" name="Shape 9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神经康复外骨骼 · 产品发布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三大支柱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综合管理的三个维度</a:t>
            </a:r>
            <a:endParaRPr lang="en-US" sz="389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3332378" cy="37947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78024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9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799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急性期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1051560" y="3840480"/>
            <a:ext cx="278373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2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快速稳定,把握可逆的治疗时间窗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4429658" y="2240280"/>
            <a:ext cx="3332378" cy="37947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0" name="Text 8"/>
          <p:cNvSpPr/>
          <p:nvPr/>
        </p:nvSpPr>
        <p:spPr>
          <a:xfrm>
            <a:off x="4703978" y="2478024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9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799" dirty="0"/>
          </a:p>
        </p:txBody>
      </p:sp>
      <p:sp>
        <p:nvSpPr>
          <p:cNvPr id="11" name="Text 9"/>
          <p:cNvSpPr/>
          <p:nvPr/>
        </p:nvSpPr>
        <p:spPr>
          <a:xfrm>
            <a:off x="4703978" y="306324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维持期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4703978" y="3840480"/>
            <a:ext cx="278373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2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预防复发,控制疾病活动度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8082077" y="2240280"/>
            <a:ext cx="3332378" cy="37947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4" name="Text 12"/>
          <p:cNvSpPr/>
          <p:nvPr/>
        </p:nvSpPr>
        <p:spPr>
          <a:xfrm>
            <a:off x="8356397" y="2478024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9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799" dirty="0"/>
          </a:p>
        </p:txBody>
      </p:sp>
      <p:sp>
        <p:nvSpPr>
          <p:cNvPr id="15" name="Text 13"/>
          <p:cNvSpPr/>
          <p:nvPr/>
        </p:nvSpPr>
        <p:spPr>
          <a:xfrm>
            <a:off x="8356397" y="306324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康复期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8356397" y="3840480"/>
            <a:ext cx="278373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2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功能重建与生活质量提升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神经康复外骨骼 · 产品发布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对比 · BEFORE / AFTER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规范化管理前后</a:t>
            </a:r>
            <a:endParaRPr lang="en-US" sz="389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5135728" cy="38404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5135728" cy="54864"/>
          </a:xfrm>
          <a:prstGeom prst="rect">
            <a:avLst/>
          </a:prstGeom>
          <a:solidFill>
            <a:srgbClr val="E0445A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459736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spc="200" kern="0" dirty="0">
                <a:solidFill>
                  <a:srgbClr val="E044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干预前</a:t>
            </a:r>
            <a:endParaRPr lang="en-US" sz="1160" dirty="0"/>
          </a:p>
        </p:txBody>
      </p:sp>
      <p:sp>
        <p:nvSpPr>
          <p:cNvPr id="8" name="Text 6"/>
          <p:cNvSpPr/>
          <p:nvPr/>
        </p:nvSpPr>
        <p:spPr>
          <a:xfrm>
            <a:off x="1069848" y="2788920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分散诊疗</a:t>
            </a:r>
            <a:endParaRPr lang="en-US" sz="1890" dirty="0"/>
          </a:p>
        </p:txBody>
      </p:sp>
      <p:sp>
        <p:nvSpPr>
          <p:cNvPr id="9" name="Text 7"/>
          <p:cNvSpPr/>
          <p:nvPr/>
        </p:nvSpPr>
        <p:spPr>
          <a:xfrm>
            <a:off x="1069848" y="3383280"/>
            <a:ext cx="4550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7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识别延迟</a:t>
            </a:r>
            <a:endParaRPr lang="en-US" sz="137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7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路径不统一</a:t>
            </a:r>
            <a:endParaRPr lang="en-US" sz="137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7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随访脱节</a:t>
            </a:r>
            <a:endParaRPr lang="en-US" sz="1370" dirty="0"/>
          </a:p>
        </p:txBody>
      </p:sp>
      <p:sp>
        <p:nvSpPr>
          <p:cNvPr id="10" name="Shape 8"/>
          <p:cNvSpPr/>
          <p:nvPr/>
        </p:nvSpPr>
        <p:spPr>
          <a:xfrm>
            <a:off x="6278728" y="2240280"/>
            <a:ext cx="5135728" cy="38404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1" name="Shape 9"/>
          <p:cNvSpPr/>
          <p:nvPr/>
        </p:nvSpPr>
        <p:spPr>
          <a:xfrm>
            <a:off x="6278728" y="2240280"/>
            <a:ext cx="5135728" cy="54864"/>
          </a:xfrm>
          <a:prstGeom prst="rect">
            <a:avLst/>
          </a:prstGeom>
          <a:solidFill>
            <a:srgbClr val="1AAF6C"/>
          </a:solidFill>
          <a:ln/>
        </p:spPr>
      </p:sp>
      <p:sp>
        <p:nvSpPr>
          <p:cNvPr id="12" name="Text 10"/>
          <p:cNvSpPr/>
          <p:nvPr/>
        </p:nvSpPr>
        <p:spPr>
          <a:xfrm>
            <a:off x="6571336" y="2459736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spc="200" kern="0" dirty="0">
                <a:solidFill>
                  <a:srgbClr val="1AAF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干预后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6571336" y="2788920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闭环管理</a:t>
            </a:r>
            <a:endParaRPr lang="en-US" sz="1890" dirty="0"/>
          </a:p>
        </p:txBody>
      </p:sp>
      <p:sp>
        <p:nvSpPr>
          <p:cNvPr id="14" name="Text 12"/>
          <p:cNvSpPr/>
          <p:nvPr/>
        </p:nvSpPr>
        <p:spPr>
          <a:xfrm>
            <a:off x="6571336" y="3383280"/>
            <a:ext cx="4550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7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快速通道</a:t>
            </a:r>
            <a:endParaRPr lang="en-US" sz="137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7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标准路径</a:t>
            </a:r>
            <a:endParaRPr lang="en-US" sz="137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7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全程随访</a:t>
            </a:r>
            <a:endParaRPr lang="en-US" sz="1370" dirty="0"/>
          </a:p>
        </p:txBody>
      </p:sp>
      <p:sp>
        <p:nvSpPr>
          <p:cNvPr id="15" name="Shape 13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神经康复外骨骼 · 产品发布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影像 · IMAGING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典型影像表现</a:t>
            </a:r>
            <a:endParaRPr lang="en-US" sz="389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60"/>
              </a:lnSpc>
              <a:buNone/>
            </a:pPr>
            <a:r>
              <a:rPr lang="en-US" sz="152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脊髓损伤在 MRI/CT 上有其特征性征象,是确诊与分型的重要依据。规范化的影像采集与判读流程,能显著提升诊断一致性。</a:t>
            </a:r>
            <a:endParaRPr lang="en-US" sz="1520" dirty="0"/>
          </a:p>
        </p:txBody>
      </p:sp>
      <p:sp>
        <p:nvSpPr>
          <p:cNvPr id="6" name="Shape 4"/>
          <p:cNvSpPr/>
          <p:nvPr/>
        </p:nvSpPr>
        <p:spPr>
          <a:xfrm>
            <a:off x="777240" y="4434840"/>
            <a:ext cx="45720" cy="118872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4348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i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“影像必须结合临床与实验室,单一征象不足以定论。”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诊断规范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75120" y="2240280"/>
            <a:ext cx="4739335" cy="3429000"/>
          </a:xfrm>
          <a:prstGeom prst="rect">
            <a:avLst/>
          </a:prstGeom>
          <a:solidFill>
            <a:srgbClr val="F0F0EE"/>
          </a:solidFill>
          <a:ln w="12700">
            <a:solidFill>
              <a:srgbClr val="D4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240280"/>
            <a:ext cx="473933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spc="20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此处放置影像图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神经康复外骨骼 · 产品发布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关键指标 · KPI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本年度诊疗数据</a:t>
            </a:r>
            <a:endParaRPr lang="en-US" sz="389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2419274" cy="29260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247802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年接诊量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4984" y="292608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1,240</a:t>
            </a:r>
            <a:pPr indent="0" marL="0">
              <a:buNone/>
            </a:pPr>
            <a:r>
              <a:rPr lang="en-US" sz="1580" b="1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例</a:t>
            </a:r>
            <a:endParaRPr lang="en-US" sz="3990" dirty="0"/>
          </a:p>
        </p:txBody>
      </p:sp>
      <p:sp>
        <p:nvSpPr>
          <p:cNvPr id="8" name="Text 6"/>
          <p:cNvSpPr/>
          <p:nvPr/>
        </p:nvSpPr>
        <p:spPr>
          <a:xfrm>
            <a:off x="1033272" y="461772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AAF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18%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3516554" y="2240280"/>
            <a:ext cx="2419274" cy="29260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0" name="Text 8"/>
          <p:cNvSpPr/>
          <p:nvPr/>
        </p:nvSpPr>
        <p:spPr>
          <a:xfrm>
            <a:off x="3772586" y="247802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确诊时间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54298" y="292608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</a:t>
            </a:r>
            <a:pPr indent="0" marL="0">
              <a:buNone/>
            </a:pPr>
            <a:r>
              <a:rPr lang="en-US" sz="1580" b="1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天</a:t>
            </a:r>
            <a:endParaRPr lang="en-US" sz="3990" dirty="0"/>
          </a:p>
        </p:txBody>
      </p:sp>
      <p:sp>
        <p:nvSpPr>
          <p:cNvPr id="12" name="Text 10"/>
          <p:cNvSpPr/>
          <p:nvPr/>
        </p:nvSpPr>
        <p:spPr>
          <a:xfrm>
            <a:off x="3772586" y="461772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AAF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0.8 天</a:t>
            </a:r>
            <a:endParaRPr lang="en-US" sz="1310" dirty="0"/>
          </a:p>
        </p:txBody>
      </p:sp>
      <p:sp>
        <p:nvSpPr>
          <p:cNvPr id="13" name="Shape 11"/>
          <p:cNvSpPr/>
          <p:nvPr/>
        </p:nvSpPr>
        <p:spPr>
          <a:xfrm>
            <a:off x="6255868" y="2240280"/>
            <a:ext cx="2419274" cy="29260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4" name="Text 12"/>
          <p:cNvSpPr/>
          <p:nvPr/>
        </p:nvSpPr>
        <p:spPr>
          <a:xfrm>
            <a:off x="6511900" y="247802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规范治疗率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3612" y="292608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pPr indent="0" marL="0">
              <a:buNone/>
            </a:pPr>
            <a:r>
              <a:rPr lang="en-US" sz="1580" b="1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%</a:t>
            </a:r>
            <a:endParaRPr lang="en-US" sz="3990" dirty="0"/>
          </a:p>
        </p:txBody>
      </p:sp>
      <p:sp>
        <p:nvSpPr>
          <p:cNvPr id="16" name="Text 14"/>
          <p:cNvSpPr/>
          <p:nvPr/>
        </p:nvSpPr>
        <p:spPr>
          <a:xfrm>
            <a:off x="6511900" y="461772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AAF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6 pt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8995181" y="2240280"/>
            <a:ext cx="2419274" cy="29260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8" name="Text 16"/>
          <p:cNvSpPr/>
          <p:nvPr/>
        </p:nvSpPr>
        <p:spPr>
          <a:xfrm>
            <a:off x="9251213" y="247802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年复发率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32925" y="292608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pPr indent="0" marL="0">
              <a:buNone/>
            </a:pPr>
            <a:r>
              <a:rPr lang="en-US" sz="1580" b="1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%</a:t>
            </a:r>
            <a:endParaRPr lang="en-US" sz="3990" dirty="0"/>
          </a:p>
        </p:txBody>
      </p:sp>
      <p:sp>
        <p:nvSpPr>
          <p:cNvPr id="20" name="Text 18"/>
          <p:cNvSpPr/>
          <p:nvPr/>
        </p:nvSpPr>
        <p:spPr>
          <a:xfrm>
            <a:off x="9251213" y="461772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AAF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3 pt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神经康复外骨骼 · 产品发布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关键数据 · RESULT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脊髓损伤的核心疗效指标</a:t>
            </a:r>
            <a:endParaRPr lang="en-US" sz="389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011680" cy="201168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2860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pPr indent="0" marL="0">
              <a:buNone/>
            </a:pPr>
            <a:r>
              <a:rPr lang="en-US" sz="3150" b="1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0500" dirty="0"/>
          </a:p>
        </p:txBody>
      </p:sp>
      <p:sp>
        <p:nvSpPr>
          <p:cNvPr id="7" name="Text 5"/>
          <p:cNvSpPr/>
          <p:nvPr/>
        </p:nvSpPr>
        <p:spPr>
          <a:xfrm>
            <a:off x="118872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完成院内步行训练的用户占比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1188720" y="4983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3"/>
              </a:lnSpc>
              <a:buNone/>
            </a:pPr>
            <a:r>
              <a:rPr lang="en-US" sz="12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周训练周期内达成 10 米自主步行的比例。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766560" y="3954780"/>
            <a:ext cx="914400" cy="1760220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36438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6675120" y="5788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82128" y="3538728"/>
            <a:ext cx="914400" cy="2176272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13" name="Text 11"/>
          <p:cNvSpPr/>
          <p:nvPr/>
        </p:nvSpPr>
        <p:spPr>
          <a:xfrm>
            <a:off x="7882128" y="3227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7790688" y="5788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97696" y="3154680"/>
            <a:ext cx="914400" cy="2560320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16" name="Text 14"/>
          <p:cNvSpPr/>
          <p:nvPr/>
        </p:nvSpPr>
        <p:spPr>
          <a:xfrm>
            <a:off x="8997696" y="2843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8906256" y="5788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113264" y="2514600"/>
            <a:ext cx="914400" cy="32004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9" name="Text 17"/>
          <p:cNvSpPr/>
          <p:nvPr/>
        </p:nvSpPr>
        <p:spPr>
          <a:xfrm>
            <a:off x="10113264" y="2203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10021824" y="5788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神经康复外骨骼 · 产品发布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路线 · ROADMAP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三年建设时间线</a:t>
            </a:r>
            <a:endParaRPr lang="en-US" sz="3890" dirty="0"/>
          </a:p>
        </p:txBody>
      </p:sp>
      <p:sp>
        <p:nvSpPr>
          <p:cNvPr id="5" name="Shape 3"/>
          <p:cNvSpPr/>
          <p:nvPr/>
        </p:nvSpPr>
        <p:spPr>
          <a:xfrm>
            <a:off x="2106892" y="3200400"/>
            <a:ext cx="7977911" cy="0"/>
          </a:xfrm>
          <a:prstGeom prst="line">
            <a:avLst/>
          </a:prstGeom>
          <a:noFill/>
          <a:ln w="25400">
            <a:solidFill>
              <a:srgbClr val="D4D4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5452" y="3108960"/>
            <a:ext cx="182880" cy="18288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45643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体系搭建</a:t>
            </a:r>
            <a:endParaRPr lang="en-US" sz="147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8"/>
              </a:lnSpc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组建团队,标准化路径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4674756" y="3108960"/>
            <a:ext cx="182880" cy="18288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1" name="Text 9"/>
          <p:cNvSpPr/>
          <p:nvPr/>
        </p:nvSpPr>
        <p:spPr>
          <a:xfrm>
            <a:off x="3527984" y="265176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27984" y="345643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能力提升</a:t>
            </a:r>
            <a:endParaRPr lang="en-US" sz="1470" dirty="0"/>
          </a:p>
        </p:txBody>
      </p:sp>
      <p:sp>
        <p:nvSpPr>
          <p:cNvPr id="13" name="Text 11"/>
          <p:cNvSpPr/>
          <p:nvPr/>
        </p:nvSpPr>
        <p:spPr>
          <a:xfrm>
            <a:off x="3573704" y="397764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8"/>
              </a:lnSpc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培训与质控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7334060" y="3108960"/>
            <a:ext cx="182880" cy="18288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5" name="Text 13"/>
          <p:cNvSpPr/>
          <p:nvPr/>
        </p:nvSpPr>
        <p:spPr>
          <a:xfrm>
            <a:off x="6187288" y="265176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87288" y="345643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区域辐射</a:t>
            </a:r>
            <a:endParaRPr lang="en-US" sz="1470" dirty="0"/>
          </a:p>
        </p:txBody>
      </p:sp>
      <p:sp>
        <p:nvSpPr>
          <p:cNvPr id="17" name="Text 15"/>
          <p:cNvSpPr/>
          <p:nvPr/>
        </p:nvSpPr>
        <p:spPr>
          <a:xfrm>
            <a:off x="6233008" y="397764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8"/>
              </a:lnSpc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分级诊疗网络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9993363" y="3108960"/>
            <a:ext cx="182880" cy="182880"/>
          </a:xfrm>
          <a:prstGeom prst="ellipse">
            <a:avLst/>
          </a:prstGeom>
          <a:solidFill>
            <a:srgbClr val="D4D4D2"/>
          </a:solidFill>
          <a:ln/>
        </p:spPr>
      </p:sp>
      <p:sp>
        <p:nvSpPr>
          <p:cNvPr id="19" name="Text 17"/>
          <p:cNvSpPr/>
          <p:nvPr/>
        </p:nvSpPr>
        <p:spPr>
          <a:xfrm>
            <a:off x="8846591" y="265176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46591" y="345643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持续优化</a:t>
            </a:r>
            <a:endParaRPr lang="en-US" sz="1470" dirty="0"/>
          </a:p>
        </p:txBody>
      </p:sp>
      <p:sp>
        <p:nvSpPr>
          <p:cNvPr id="21" name="Text 19"/>
          <p:cNvSpPr/>
          <p:nvPr/>
        </p:nvSpPr>
        <p:spPr>
          <a:xfrm>
            <a:off x="8892311" y="397764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8"/>
              </a:lnSpc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数据驱动改进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神经康复外骨骼 · 产品发布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明细 · DATA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分型与治疗方案</a:t>
            </a:r>
            <a:endParaRPr lang="en-US" sz="389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86000"/>
          <a:ext cx="10637215" cy="914400"/>
        </p:xfrm>
        <a:graphic>
          <a:graphicData uri="http://schemas.openxmlformats.org/drawingml/2006/table">
            <a:tbl>
              <a:tblPr/>
              <a:tblGrid>
                <a:gridCol w="2659304"/>
                <a:gridCol w="2659304"/>
                <a:gridCol w="2659304"/>
                <a:gridCol w="26593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分型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占比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一线方案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预后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10" b="1" dirty="0">
                          <a:solidFill>
                            <a:srgbClr val="0A0A0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经典型</a:t>
                      </a:r>
                      <a:endParaRPr lang="en-US" sz="12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10" dirty="0">
                          <a:solidFill>
                            <a:srgbClr val="5252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62%</a:t>
                      </a:r>
                      <a:endParaRPr lang="en-US" sz="12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10" dirty="0">
                          <a:solidFill>
                            <a:srgbClr val="5252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标准治疗</a:t>
                      </a:r>
                      <a:endParaRPr lang="en-US" sz="12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10" dirty="0">
                          <a:solidFill>
                            <a:srgbClr val="5252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良好</a:t>
                      </a:r>
                      <a:endParaRPr lang="en-US" sz="12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10" b="1" dirty="0">
                          <a:solidFill>
                            <a:srgbClr val="0A0A0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进展型</a:t>
                      </a:r>
                      <a:endParaRPr lang="en-US" sz="12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10" dirty="0">
                          <a:solidFill>
                            <a:srgbClr val="5252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24%</a:t>
                      </a:r>
                      <a:endParaRPr lang="en-US" sz="12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10" dirty="0">
                          <a:solidFill>
                            <a:srgbClr val="5252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强化方案</a:t>
                      </a:r>
                      <a:endParaRPr lang="en-US" sz="12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10" dirty="0">
                          <a:solidFill>
                            <a:srgbClr val="5252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中等</a:t>
                      </a:r>
                      <a:endParaRPr lang="en-US" sz="12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10" b="1" dirty="0">
                          <a:solidFill>
                            <a:srgbClr val="0A0A0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难治型</a:t>
                      </a:r>
                      <a:endParaRPr lang="en-US" sz="12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10" dirty="0">
                          <a:solidFill>
                            <a:srgbClr val="5252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14%</a:t>
                      </a:r>
                      <a:endParaRPr lang="en-US" sz="12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10" dirty="0">
                          <a:solidFill>
                            <a:srgbClr val="5252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个体化</a:t>
                      </a:r>
                      <a:endParaRPr lang="en-US" sz="12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10" dirty="0">
                          <a:solidFill>
                            <a:srgbClr val="5252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需随访</a:t>
                      </a:r>
                      <a:endParaRPr lang="en-US" sz="12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080760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来源: 科室登记数据 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5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神经康复外骨骼 · 产品发布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流程 · PROCESS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急救绿色通道</a:t>
            </a:r>
            <a:endParaRPr lang="en-US" sz="389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2371268" cy="36118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6" name="Text 4"/>
          <p:cNvSpPr/>
          <p:nvPr/>
        </p:nvSpPr>
        <p:spPr>
          <a:xfrm>
            <a:off x="1014984" y="2459736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9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799" dirty="0"/>
          </a:p>
        </p:txBody>
      </p:sp>
      <p:sp>
        <p:nvSpPr>
          <p:cNvPr id="7" name="Text 5"/>
          <p:cNvSpPr/>
          <p:nvPr/>
        </p:nvSpPr>
        <p:spPr>
          <a:xfrm>
            <a:off x="1014984" y="304495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识别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1014984" y="3776472"/>
            <a:ext cx="18957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8"/>
              </a:lnSpc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症状快速筛查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3102788" y="381762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0" b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90" dirty="0"/>
          </a:p>
        </p:txBody>
      </p:sp>
      <p:sp>
        <p:nvSpPr>
          <p:cNvPr id="10" name="Shape 8"/>
          <p:cNvSpPr/>
          <p:nvPr/>
        </p:nvSpPr>
        <p:spPr>
          <a:xfrm>
            <a:off x="3532556" y="2240280"/>
            <a:ext cx="2371268" cy="36118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1" name="Text 9"/>
          <p:cNvSpPr/>
          <p:nvPr/>
        </p:nvSpPr>
        <p:spPr>
          <a:xfrm>
            <a:off x="3770300" y="2459736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9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799" dirty="0"/>
          </a:p>
        </p:txBody>
      </p:sp>
      <p:sp>
        <p:nvSpPr>
          <p:cNvPr id="12" name="Text 10"/>
          <p:cNvSpPr/>
          <p:nvPr/>
        </p:nvSpPr>
        <p:spPr>
          <a:xfrm>
            <a:off x="3770300" y="304495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分诊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3770300" y="3776472"/>
            <a:ext cx="18957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8"/>
              </a:lnSpc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开通绿色通道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5858104" y="381762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0" b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90" dirty="0"/>
          </a:p>
        </p:txBody>
      </p:sp>
      <p:sp>
        <p:nvSpPr>
          <p:cNvPr id="15" name="Shape 13"/>
          <p:cNvSpPr/>
          <p:nvPr/>
        </p:nvSpPr>
        <p:spPr>
          <a:xfrm>
            <a:off x="6287872" y="2240280"/>
            <a:ext cx="2371268" cy="36118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6" name="Text 14"/>
          <p:cNvSpPr/>
          <p:nvPr/>
        </p:nvSpPr>
        <p:spPr>
          <a:xfrm>
            <a:off x="6525616" y="2459736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9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799" dirty="0"/>
          </a:p>
        </p:txBody>
      </p:sp>
      <p:sp>
        <p:nvSpPr>
          <p:cNvPr id="17" name="Text 15"/>
          <p:cNvSpPr/>
          <p:nvPr/>
        </p:nvSpPr>
        <p:spPr>
          <a:xfrm>
            <a:off x="6525616" y="304495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干预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525616" y="3776472"/>
            <a:ext cx="18957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8"/>
              </a:lnSpc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时间窗内处置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8613419" y="381762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0" b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90" dirty="0"/>
          </a:p>
        </p:txBody>
      </p:sp>
      <p:sp>
        <p:nvSpPr>
          <p:cNvPr id="20" name="Shape 18"/>
          <p:cNvSpPr/>
          <p:nvPr/>
        </p:nvSpPr>
        <p:spPr>
          <a:xfrm>
            <a:off x="9043187" y="2240280"/>
            <a:ext cx="2371268" cy="36118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21" name="Text 19"/>
          <p:cNvSpPr/>
          <p:nvPr/>
        </p:nvSpPr>
        <p:spPr>
          <a:xfrm>
            <a:off x="9280931" y="2459736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9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799" dirty="0"/>
          </a:p>
        </p:txBody>
      </p:sp>
      <p:sp>
        <p:nvSpPr>
          <p:cNvPr id="22" name="Text 20"/>
          <p:cNvSpPr/>
          <p:nvPr/>
        </p:nvSpPr>
        <p:spPr>
          <a:xfrm>
            <a:off x="9280931" y="304495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转归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9280931" y="3776472"/>
            <a:ext cx="18957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8"/>
              </a:lnSpc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收治与随访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神经康复外骨骼 · 产品发布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D5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651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080" dirty="0"/>
          </a:p>
        </p:txBody>
      </p:sp>
      <p:sp>
        <p:nvSpPr>
          <p:cNvPr id="4" name="Text 2"/>
          <p:cNvSpPr/>
          <p:nvPr/>
        </p:nvSpPr>
        <p:spPr>
          <a:xfrm>
            <a:off x="4480560" y="2103120"/>
            <a:ext cx="70710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313"/>
              </a:lnSpc>
              <a:buNone/>
            </a:pPr>
            <a:r>
              <a:rPr lang="en-US" sz="48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让每一位脊髓损伤患者</a:t>
            </a:r>
            <a:pPr indent="0" marL="0">
              <a:lnSpc>
                <a:spcPts val="5313"/>
              </a:lnSpc>
              <a:buNone/>
            </a:pPr>
            <a:r>
              <a:rPr lang="en-US" sz="4830" b="1" dirty="0">
                <a:solidFill>
                  <a:srgbClr val="FFD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都得到规范诊疗</a:t>
            </a:r>
            <a:endParaRPr lang="en-US" sz="4830" dirty="0"/>
          </a:p>
        </p:txBody>
      </p:sp>
      <p:sp>
        <p:nvSpPr>
          <p:cNvPr id="5" name="Text 3"/>
          <p:cNvSpPr/>
          <p:nvPr/>
        </p:nvSpPr>
        <p:spPr>
          <a:xfrm>
            <a:off x="4480560" y="4069080"/>
            <a:ext cx="6888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C9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神经康复外骨骼 · 产品发布</a:t>
            </a:r>
            <a:endParaRPr lang="en-US" sz="1470" dirty="0"/>
          </a:p>
        </p:txBody>
      </p:sp>
      <p:sp>
        <p:nvSpPr>
          <p:cNvPr id="6" name="Text 4"/>
          <p:cNvSpPr/>
          <p:nvPr/>
        </p:nvSpPr>
        <p:spPr>
          <a:xfrm>
            <a:off x="4480560" y="4892040"/>
            <a:ext cx="6888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b="1" dirty="0">
                <a:solidFill>
                  <a:srgbClr val="FFD5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推进标准化路径落地</a:t>
            </a:r>
            <a:endParaRPr lang="en-US" sz="13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脊髓损伤 · 演示</dc:title>
  <dc:subject>PptxGenJS Presentation</dc:subject>
  <dc:creator>demo</dc:creator>
  <cp:lastModifiedBy>demo</cp:lastModifiedBy>
  <cp:revision>1</cp:revision>
  <dcterms:created xsi:type="dcterms:W3CDTF">2026-07-04T16:51:26Z</dcterms:created>
  <dcterms:modified xsi:type="dcterms:W3CDTF">2026-07-04T16:51:26Z</dcterms:modified>
</cp:coreProperties>
</file>