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CENTER · 战略规划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19695" y="2377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仅内部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265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36"/>
              </a:lnSpc>
              <a:buNone/>
            </a:pPr>
            <a:r>
              <a:rPr lang="en-US" sz="37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区域卒中中心</a:t>
            </a:r>
            <a:pPr indent="0" marL="0">
              <a:lnSpc>
                <a:spcPts val="4736"/>
              </a:lnSpc>
              <a:buNone/>
            </a:pPr>
            <a:r>
              <a:rPr lang="en-US" sz="37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三年建设路线图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777240" y="4114800"/>
            <a:ext cx="8351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从急救网络到康复闭环,把「时间就是大脑」落到每一分钟。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5989320"/>
            <a:ext cx="10637215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144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汇报:神经内科 · 卒中团队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6144768"/>
            <a:ext cx="4556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国家卒中中心建设 · 战略汇报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 · 目录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本次汇报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336285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3317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546" dirty="0"/>
          </a:p>
        </p:txBody>
      </p:sp>
      <p:sp>
        <p:nvSpPr>
          <p:cNvPr id="8" name="Text 6"/>
          <p:cNvSpPr/>
          <p:nvPr/>
        </p:nvSpPr>
        <p:spPr>
          <a:xfrm>
            <a:off x="1033272" y="28072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疾病负担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" y="32278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流行病学与现状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4418" y="2148840"/>
            <a:ext cx="336285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0450" y="23317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546" dirty="0"/>
          </a:p>
        </p:txBody>
      </p:sp>
      <p:sp>
        <p:nvSpPr>
          <p:cNvPr id="12" name="Text 10"/>
          <p:cNvSpPr/>
          <p:nvPr/>
        </p:nvSpPr>
        <p:spPr>
          <a:xfrm>
            <a:off x="4670450" y="28072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诊疗路径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0450" y="32278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从识别到干预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51597" y="2148840"/>
            <a:ext cx="336285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7629" y="23317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546" dirty="0"/>
          </a:p>
        </p:txBody>
      </p:sp>
      <p:sp>
        <p:nvSpPr>
          <p:cNvPr id="16" name="Text 14"/>
          <p:cNvSpPr/>
          <p:nvPr/>
        </p:nvSpPr>
        <p:spPr>
          <a:xfrm>
            <a:off x="8307629" y="28072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07629" y="32278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疗效与安全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977640"/>
            <a:ext cx="336285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1605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546" dirty="0"/>
          </a:p>
        </p:txBody>
      </p:sp>
      <p:sp>
        <p:nvSpPr>
          <p:cNvPr id="20" name="Text 18"/>
          <p:cNvSpPr/>
          <p:nvPr/>
        </p:nvSpPr>
        <p:spPr>
          <a:xfrm>
            <a:off x="1033272" y="46360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现存问题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33272" y="50566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瓶颈与风险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14418" y="3977640"/>
            <a:ext cx="336285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0450" y="41605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546" dirty="0"/>
          </a:p>
        </p:txBody>
      </p:sp>
      <p:sp>
        <p:nvSpPr>
          <p:cNvPr id="24" name="Text 22"/>
          <p:cNvSpPr/>
          <p:nvPr/>
        </p:nvSpPr>
        <p:spPr>
          <a:xfrm>
            <a:off x="4670450" y="46360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改进方案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70450" y="50566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下一步计划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51597" y="3977640"/>
            <a:ext cx="336285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7629" y="41605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1546" dirty="0"/>
          </a:p>
        </p:txBody>
      </p:sp>
      <p:sp>
        <p:nvSpPr>
          <p:cNvPr id="28" name="Text 26"/>
          <p:cNvSpPr/>
          <p:nvPr/>
        </p:nvSpPr>
        <p:spPr>
          <a:xfrm>
            <a:off x="8307629" y="46360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资源需求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07629" y="50566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投入与时间表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dirty="0">
                <a:solidFill>
                  <a:srgbClr val="D8D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200" dirty="0"/>
          </a:p>
        </p:txBody>
      </p:sp>
      <p:sp>
        <p:nvSpPr>
          <p:cNvPr id="6" name="Shape 4"/>
          <p:cNvSpPr/>
          <p:nvPr/>
        </p:nvSpPr>
        <p:spPr>
          <a:xfrm>
            <a:off x="3291840" y="2331720"/>
            <a:ext cx="0" cy="1371600"/>
          </a:xfrm>
          <a:prstGeom prst="line">
            <a:avLst/>
          </a:prstGeom>
          <a:noFill/>
          <a:ln w="27940">
            <a:solidFill>
              <a:srgbClr val="243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2377440"/>
            <a:ext cx="7802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疾病负担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11880" y="3246120"/>
            <a:ext cx="7345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脑卒中的流行病学与临床现状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核心判断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0" cy="1920240"/>
          </a:xfrm>
          <a:prstGeom prst="line">
            <a:avLst/>
          </a:prstGeom>
          <a:noFill/>
          <a:ln w="38100">
            <a:solidFill>
              <a:srgbClr val="243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40280"/>
            <a:ext cx="91741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6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早识别、早干预,</a:t>
            </a:r>
            <a:endParaRPr lang="en-US" sz="2900" dirty="0"/>
          </a:p>
          <a:p>
            <a:pPr indent="0" marL="0">
              <a:lnSpc>
                <a:spcPts val="4060"/>
              </a:lnSpc>
              <a:buNone/>
            </a:pPr>
            <a:r>
              <a:rPr lang="en-US" sz="2900" b="1" dirty="0">
                <a:solidFill>
                  <a:srgbClr val="24344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是改变脑卒中结局的关键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188720" y="4572000"/>
            <a:ext cx="8808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时间窗决定神经功能的可挽救程度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诊疗路径 · PATHWAY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脑卒中的四步管理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10637215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35915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766" dirty="0"/>
          </a:p>
        </p:txBody>
      </p:sp>
      <p:sp>
        <p:nvSpPr>
          <p:cNvPr id="8" name="Text 6"/>
          <p:cNvSpPr/>
          <p:nvPr/>
        </p:nvSpPr>
        <p:spPr>
          <a:xfrm>
            <a:off x="1682496" y="2148840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早期识别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45375" y="2148840"/>
            <a:ext cx="3886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基于典型症状与量表快速筛查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172968"/>
            <a:ext cx="10637215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338328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766" dirty="0"/>
          </a:p>
        </p:txBody>
      </p:sp>
      <p:sp>
        <p:nvSpPr>
          <p:cNvPr id="12" name="Text 10"/>
          <p:cNvSpPr/>
          <p:nvPr/>
        </p:nvSpPr>
        <p:spPr>
          <a:xfrm>
            <a:off x="1682496" y="3172968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确诊分型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45375" y="3172968"/>
            <a:ext cx="3886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影像 + 电生理 + 抗体检测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197096"/>
            <a:ext cx="10637215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440740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766" dirty="0"/>
          </a:p>
        </p:txBody>
      </p:sp>
      <p:sp>
        <p:nvSpPr>
          <p:cNvPr id="16" name="Text 14"/>
          <p:cNvSpPr/>
          <p:nvPr/>
        </p:nvSpPr>
        <p:spPr>
          <a:xfrm>
            <a:off x="1682496" y="4197096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规范治疗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45375" y="4197096"/>
            <a:ext cx="3886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急性期干预与长期维持并重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5221224"/>
            <a:ext cx="10637215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543153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766" dirty="0"/>
          </a:p>
        </p:txBody>
      </p:sp>
      <p:sp>
        <p:nvSpPr>
          <p:cNvPr id="20" name="Text 18"/>
          <p:cNvSpPr/>
          <p:nvPr/>
        </p:nvSpPr>
        <p:spPr>
          <a:xfrm>
            <a:off x="1682496" y="5221224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康复随访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45375" y="5221224"/>
            <a:ext cx="3886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功能评估与并发症防控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6071616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* 路径依据最新专家共识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 ·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发病机制与干预靶点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513572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04872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病理基础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990088"/>
            <a:ext cx="449564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神经元/髓鞘损伤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炎症与免疫异常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神经环路受累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2148840"/>
            <a:ext cx="5135728" cy="3931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6598768" y="2404872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关键指标(示例)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98768" y="2990088"/>
            <a:ext cx="449564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F6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onset  : 急性/亚急性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F6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: 免疫调节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F6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: 4.5h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F6F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: mRS 0-2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三大支柱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综合管理的三个维度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333237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86584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3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693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急性期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749040"/>
            <a:ext cx="278373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快速稳定,把握可逆的治疗时间窗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29658" y="2148840"/>
            <a:ext cx="333237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3978" y="2386584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3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693" dirty="0"/>
          </a:p>
        </p:txBody>
      </p:sp>
      <p:sp>
        <p:nvSpPr>
          <p:cNvPr id="12" name="Text 10"/>
          <p:cNvSpPr/>
          <p:nvPr/>
        </p:nvSpPr>
        <p:spPr>
          <a:xfrm>
            <a:off x="4703978" y="29718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维持期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3978" y="3749040"/>
            <a:ext cx="278373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预防复发,控制疾病活动度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2077" y="2148840"/>
            <a:ext cx="333237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6397" y="2386584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3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693" dirty="0"/>
          </a:p>
        </p:txBody>
      </p:sp>
      <p:sp>
        <p:nvSpPr>
          <p:cNvPr id="16" name="Text 14"/>
          <p:cNvSpPr/>
          <p:nvPr/>
        </p:nvSpPr>
        <p:spPr>
          <a:xfrm>
            <a:off x="8356397" y="29718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康复期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6397" y="3749040"/>
            <a:ext cx="278373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功能重建与生活质量提升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对比 · BEFORE / 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规范化管理前后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513572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48840"/>
            <a:ext cx="5135728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2368296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干预前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" y="269748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分散诊疗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3291840"/>
            <a:ext cx="455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识别延迟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路径不统一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随访脱节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2148840"/>
            <a:ext cx="513572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2148840"/>
            <a:ext cx="5135728" cy="5486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3" name="Text 11"/>
          <p:cNvSpPr/>
          <p:nvPr/>
        </p:nvSpPr>
        <p:spPr>
          <a:xfrm>
            <a:off x="6571336" y="2368296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干预后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71336" y="269748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闭环管理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71336" y="3291840"/>
            <a:ext cx="455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快速通道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标准路径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全程随访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影像 · IMAGING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典型影像表现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38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脑卒中在 MRI/CT 上有其特征性征象,是确诊与分型的重要依据。规范化的影像采集与判读流程,能显著提升诊断一致性。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45720" cy="118872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4348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“影像必须结合临床与实验室,单一征象不足以定论。”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诊断规范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0" y="2148840"/>
            <a:ext cx="4739335" cy="3520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48840"/>
            <a:ext cx="473933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此处放置影像图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 KPI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本年度诊疗数据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2419274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3865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年接诊量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14984" y="28346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1,240</a:t>
            </a:r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例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033272" y="45262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↑ 18%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16554" y="2148840"/>
            <a:ext cx="2419274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2586" y="23865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确诊时间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54298" y="28346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</a:t>
            </a:r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天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772586" y="45262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0.8 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55868" y="2148840"/>
            <a:ext cx="2419274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1900" y="23865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规范治疗率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3612" y="28346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511900" y="45262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↑ 6 pt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95181" y="2148840"/>
            <a:ext cx="2419274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1213" y="23865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年复发率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232925" y="28346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251213" y="45262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3 pt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关键数据 ·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脑卒中的核心疗效指标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</a:t>
            </a:r>
            <a:pPr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静脉溶栓时间窗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发病至给药每延迟 30 分钟,良好预后概率下降约 10%。缩短 DNT 是本项目的核心抓手。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23774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444008"/>
            <a:ext cx="3260430" cy="342351"/>
          </a:xfrm>
          <a:prstGeom prst="rect">
            <a:avLst/>
          </a:prstGeom>
          <a:solidFill>
            <a:srgbClr val="D8DEE8"/>
          </a:solidFill>
          <a:ln/>
        </p:spPr>
      </p:sp>
      <p:sp>
        <p:nvSpPr>
          <p:cNvPr id="11" name="Text 9"/>
          <p:cNvSpPr/>
          <p:nvPr/>
        </p:nvSpPr>
        <p:spPr>
          <a:xfrm>
            <a:off x="7905582" y="23774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4680" y="30540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120664"/>
            <a:ext cx="4031078" cy="342351"/>
          </a:xfrm>
          <a:prstGeom prst="rect">
            <a:avLst/>
          </a:prstGeom>
          <a:solidFill>
            <a:srgbClr val="D8DEE8"/>
          </a:solidFill>
          <a:ln/>
        </p:spPr>
      </p:sp>
      <p:sp>
        <p:nvSpPr>
          <p:cNvPr id="14" name="Text 12"/>
          <p:cNvSpPr/>
          <p:nvPr/>
        </p:nvSpPr>
        <p:spPr>
          <a:xfrm>
            <a:off x="8676230" y="305409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373075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797320"/>
            <a:ext cx="4742444" cy="342351"/>
          </a:xfrm>
          <a:prstGeom prst="rect">
            <a:avLst/>
          </a:prstGeom>
          <a:solidFill>
            <a:srgbClr val="D8DEE8"/>
          </a:solidFill>
          <a:ln/>
        </p:spPr>
      </p:sp>
      <p:sp>
        <p:nvSpPr>
          <p:cNvPr id="17" name="Text 15"/>
          <p:cNvSpPr/>
          <p:nvPr/>
        </p:nvSpPr>
        <p:spPr>
          <a:xfrm>
            <a:off x="9387596" y="373075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44074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4473976"/>
            <a:ext cx="5928055" cy="342351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0" name="Text 18"/>
          <p:cNvSpPr/>
          <p:nvPr/>
        </p:nvSpPr>
        <p:spPr>
          <a:xfrm>
            <a:off x="10573207" y="440740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路线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三年建设时间线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106892" y="3108960"/>
            <a:ext cx="7977911" cy="0"/>
          </a:xfrm>
          <a:prstGeom prst="line">
            <a:avLst/>
          </a:prstGeom>
          <a:noFill/>
          <a:ln w="254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5452" y="3017520"/>
            <a:ext cx="182880" cy="182880"/>
          </a:xfrm>
          <a:prstGeom prst="ellipse">
            <a:avLst/>
          </a:prstGeom>
          <a:solidFill>
            <a:srgbClr val="24344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603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3649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体系搭建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组建团队,标准化路径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74756" y="3017520"/>
            <a:ext cx="182880" cy="182880"/>
          </a:xfrm>
          <a:prstGeom prst="ellipse">
            <a:avLst/>
          </a:prstGeom>
          <a:solidFill>
            <a:srgbClr val="243447"/>
          </a:solidFill>
          <a:ln/>
        </p:spPr>
      </p:sp>
      <p:sp>
        <p:nvSpPr>
          <p:cNvPr id="12" name="Text 10"/>
          <p:cNvSpPr/>
          <p:nvPr/>
        </p:nvSpPr>
        <p:spPr>
          <a:xfrm>
            <a:off x="3527984" y="25603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7984" y="33649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能力提升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3704" y="38862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培训与质控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34060" y="3017520"/>
            <a:ext cx="182880" cy="182880"/>
          </a:xfrm>
          <a:prstGeom prst="ellipse">
            <a:avLst/>
          </a:prstGeom>
          <a:solidFill>
            <a:srgbClr val="243447"/>
          </a:solidFill>
          <a:ln/>
        </p:spPr>
      </p:sp>
      <p:sp>
        <p:nvSpPr>
          <p:cNvPr id="16" name="Text 14"/>
          <p:cNvSpPr/>
          <p:nvPr/>
        </p:nvSpPr>
        <p:spPr>
          <a:xfrm>
            <a:off x="6187288" y="25603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7288" y="33649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区域辐射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3008" y="38862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分级诊疗网络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93363" y="3017520"/>
            <a:ext cx="182880" cy="182880"/>
          </a:xfrm>
          <a:prstGeom prst="ellipse">
            <a:avLst/>
          </a:prstGeom>
          <a:solidFill>
            <a:srgbClr val="D8DEE8"/>
          </a:solidFill>
          <a:ln/>
        </p:spPr>
      </p:sp>
      <p:sp>
        <p:nvSpPr>
          <p:cNvPr id="20" name="Text 18"/>
          <p:cNvSpPr/>
          <p:nvPr/>
        </p:nvSpPr>
        <p:spPr>
          <a:xfrm>
            <a:off x="8846591" y="25603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46591" y="33649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92311" y="38862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数据驱动改进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明细 ·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分型与治疗方案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94560"/>
          <a:ext cx="10637215" cy="914400"/>
        </p:xfrm>
        <a:graphic>
          <a:graphicData uri="http://schemas.openxmlformats.org/drawingml/2006/table">
            <a:tbl>
              <a:tblPr/>
              <a:tblGrid>
                <a:gridCol w="2659304"/>
                <a:gridCol w="2659304"/>
                <a:gridCol w="2659304"/>
                <a:gridCol w="26593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占比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一线方案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预后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经典型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62%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标准治疗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进展型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24%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强化方案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难治型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14%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个体化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需随访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080760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来源: 科室登记数据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 ·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急救绿色通道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237126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368296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3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693" dirty="0"/>
          </a:p>
        </p:txBody>
      </p:sp>
      <p:sp>
        <p:nvSpPr>
          <p:cNvPr id="8" name="Text 6"/>
          <p:cNvSpPr/>
          <p:nvPr/>
        </p:nvSpPr>
        <p:spPr>
          <a:xfrm>
            <a:off x="1014984" y="29535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14984" y="3685032"/>
            <a:ext cx="18957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症状快速筛查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2788" y="37719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532556" y="2148840"/>
            <a:ext cx="237126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0300" y="2368296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3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693" dirty="0"/>
          </a:p>
        </p:txBody>
      </p:sp>
      <p:sp>
        <p:nvSpPr>
          <p:cNvPr id="13" name="Text 11"/>
          <p:cNvSpPr/>
          <p:nvPr/>
        </p:nvSpPr>
        <p:spPr>
          <a:xfrm>
            <a:off x="3770300" y="29535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分诊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70300" y="3685032"/>
            <a:ext cx="18957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开通绿色通道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8104" y="37719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87872" y="2148840"/>
            <a:ext cx="237126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5616" y="2368296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3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693" dirty="0"/>
          </a:p>
        </p:txBody>
      </p:sp>
      <p:sp>
        <p:nvSpPr>
          <p:cNvPr id="18" name="Text 16"/>
          <p:cNvSpPr/>
          <p:nvPr/>
        </p:nvSpPr>
        <p:spPr>
          <a:xfrm>
            <a:off x="6525616" y="29535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干预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25616" y="3685032"/>
            <a:ext cx="18957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时间窗内处置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13419" y="37719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043187" y="2148840"/>
            <a:ext cx="237126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0931" y="2368296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3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693" dirty="0"/>
          </a:p>
        </p:txBody>
      </p:sp>
      <p:sp>
        <p:nvSpPr>
          <p:cNvPr id="23" name="Text 21"/>
          <p:cNvSpPr/>
          <p:nvPr/>
        </p:nvSpPr>
        <p:spPr>
          <a:xfrm>
            <a:off x="9280931" y="29535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转归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80931" y="3685032"/>
            <a:ext cx="18957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收治与随访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 ·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92656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让每一位脑卒中患者</a:t>
            </a:r>
            <a:pPr indent="0" marL="0">
              <a:lnSpc>
                <a:spcPts val="3900"/>
              </a:lnSpc>
              <a:buNone/>
            </a:pPr>
            <a:r>
              <a:rPr lang="en-US" sz="3000" b="1" dirty="0">
                <a:solidFill>
                  <a:srgbClr val="24344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都得到规范诊疗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3703320"/>
            <a:ext cx="8351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国家卒中中心建设 · 战略汇报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48463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44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  </a:t>
            </a:r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推进标准化路径落地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5989320"/>
            <a:ext cx="10637215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科室临床数据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脑卒中 · 演示</dc:title>
  <dc:subject>PptxGenJS Presentation</dc:subject>
  <dc:creator>demo</dc:creator>
  <cp:lastModifiedBy>demo</cp:lastModifiedBy>
  <cp:revision>1</cp:revision>
  <dcterms:created xsi:type="dcterms:W3CDTF">2026-07-04T16:51:25Z</dcterms:created>
  <dcterms:modified xsi:type="dcterms:W3CDTF">2026-07-04T16:51:25Z</dcterms:modified>
</cp:coreProperties>
</file>