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A0A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照护者手记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9695" y="38404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3C3C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 春季刊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77240" y="841248"/>
            <a:ext cx="10637215" cy="0"/>
          </a:xfrm>
          <a:prstGeom prst="line">
            <a:avLst/>
          </a:prstGeom>
          <a:noFill/>
          <a:ln w="30480">
            <a:solidFill>
              <a:srgbClr val="0A0A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914400"/>
            <a:ext cx="10637215" cy="0"/>
          </a:xfrm>
          <a:prstGeom prst="line">
            <a:avLst/>
          </a:prstGeom>
          <a:noFill/>
          <a:ln w="10160">
            <a:solidFill>
              <a:srgbClr val="0A0A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6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照护者叙事 · 第十二期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106372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750"/>
              </a:lnSpc>
              <a:buNone/>
            </a:pPr>
            <a:r>
              <a:rPr lang="en-US" sz="50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记忆退去时,</a:t>
            </a:r>
            <a:pPr indent="0" marL="0">
              <a:lnSpc>
                <a:spcPts val="5750"/>
              </a:lnSpc>
              <a:buNone/>
            </a:pPr>
            <a:r>
              <a:rPr lang="en-US" sz="50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我们如何守住尊严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777240" y="4480560"/>
            <a:ext cx="8808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C3C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一位女儿与母亲共同面对遗忘的两年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5943600"/>
            <a:ext cx="10637215" cy="0"/>
          </a:xfrm>
          <a:prstGeom prst="line">
            <a:avLst/>
          </a:prstGeom>
          <a:noFill/>
          <a:ln w="10160">
            <a:solidFill>
              <a:srgbClr val="0A0A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08990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撰稿:家庭照护小组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81448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6D6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01 —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3C3C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CONTENTS · 目录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162495" y="2926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D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照护者手记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77240" y="640080"/>
            <a:ext cx="10637215" cy="0"/>
          </a:xfrm>
          <a:prstGeom prst="line">
            <a:avLst/>
          </a:prstGeom>
          <a:noFill/>
          <a:ln w="12700">
            <a:solidFill>
              <a:srgbClr val="0A0A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本次汇报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33272" y="2331720"/>
            <a:ext cx="61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32" b="1" dirty="0">
                <a:solidFill>
                  <a:srgbClr val="0A0A0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932" dirty="0"/>
          </a:p>
        </p:txBody>
      </p:sp>
      <p:sp>
        <p:nvSpPr>
          <p:cNvPr id="7" name="Text 5"/>
          <p:cNvSpPr/>
          <p:nvPr/>
        </p:nvSpPr>
        <p:spPr>
          <a:xfrm>
            <a:off x="1033272" y="2807208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疾病负担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3227832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流行病学与现状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70450" y="2331720"/>
            <a:ext cx="61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32" b="1" dirty="0">
                <a:solidFill>
                  <a:srgbClr val="0A0A0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932" dirty="0"/>
          </a:p>
        </p:txBody>
      </p:sp>
      <p:sp>
        <p:nvSpPr>
          <p:cNvPr id="10" name="Text 8"/>
          <p:cNvSpPr/>
          <p:nvPr/>
        </p:nvSpPr>
        <p:spPr>
          <a:xfrm>
            <a:off x="4670450" y="2807208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诊疗路径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70450" y="3227832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从识别到干预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07629" y="2331720"/>
            <a:ext cx="61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32" b="1" dirty="0">
                <a:solidFill>
                  <a:srgbClr val="0A0A0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932" dirty="0"/>
          </a:p>
        </p:txBody>
      </p:sp>
      <p:sp>
        <p:nvSpPr>
          <p:cNvPr id="13" name="Text 11"/>
          <p:cNvSpPr/>
          <p:nvPr/>
        </p:nvSpPr>
        <p:spPr>
          <a:xfrm>
            <a:off x="8307629" y="2807208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关键指标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07629" y="3227832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疗效与安全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33272" y="4160520"/>
            <a:ext cx="61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32" b="1" dirty="0">
                <a:solidFill>
                  <a:srgbClr val="0A0A0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1932" dirty="0"/>
          </a:p>
        </p:txBody>
      </p:sp>
      <p:sp>
        <p:nvSpPr>
          <p:cNvPr id="16" name="Text 14"/>
          <p:cNvSpPr/>
          <p:nvPr/>
        </p:nvSpPr>
        <p:spPr>
          <a:xfrm>
            <a:off x="1033272" y="4636008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现存问题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33272" y="5056632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瓶颈与风险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70450" y="4160520"/>
            <a:ext cx="61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32" b="1" dirty="0">
                <a:solidFill>
                  <a:srgbClr val="0A0A0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  <a:endParaRPr lang="en-US" sz="1932" dirty="0"/>
          </a:p>
        </p:txBody>
      </p:sp>
      <p:sp>
        <p:nvSpPr>
          <p:cNvPr id="19" name="Text 17"/>
          <p:cNvSpPr/>
          <p:nvPr/>
        </p:nvSpPr>
        <p:spPr>
          <a:xfrm>
            <a:off x="4670450" y="4636008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改进方案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70450" y="5056632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下一步计划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07629" y="4160520"/>
            <a:ext cx="61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32" b="1" dirty="0">
                <a:solidFill>
                  <a:srgbClr val="0A0A0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06</a:t>
            </a:r>
            <a:endParaRPr lang="en-US" sz="1932" dirty="0"/>
          </a:p>
        </p:txBody>
      </p:sp>
      <p:sp>
        <p:nvSpPr>
          <p:cNvPr id="22" name="Text 20"/>
          <p:cNvSpPr/>
          <p:nvPr/>
        </p:nvSpPr>
        <p:spPr>
          <a:xfrm>
            <a:off x="8307629" y="4636008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资源需求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07629" y="5056632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投入与时间表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98568" y="6355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C3C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02 —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0" kern="0" dirty="0">
                <a:solidFill>
                  <a:srgbClr val="6E6D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CHAPTER ·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554480"/>
            <a:ext cx="106372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A0A0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Shape 2"/>
          <p:cNvSpPr/>
          <p:nvPr/>
        </p:nvSpPr>
        <p:spPr>
          <a:xfrm>
            <a:off x="5547208" y="3794760"/>
            <a:ext cx="1097280" cy="0"/>
          </a:xfrm>
          <a:prstGeom prst="line">
            <a:avLst/>
          </a:prstGeom>
          <a:noFill/>
          <a:ln w="17780">
            <a:solidFill>
              <a:srgbClr val="0A0A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402336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疾病负担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286000" y="49834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C3C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阿尔茨海默病 AD的流行病学与临床现状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98568" y="6355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C3C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03 —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64328" y="7772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D9B96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1188720" y="2194560"/>
            <a:ext cx="98142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100"/>
              </a:lnSpc>
              <a:buNone/>
            </a:pPr>
            <a:r>
              <a:rPr lang="en-US" sz="3400" i="1" dirty="0">
                <a:solidFill>
                  <a:srgbClr val="F1EFE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早识别、早干预,</a:t>
            </a:r>
            <a:endParaRPr lang="en-US" sz="3400" dirty="0"/>
          </a:p>
          <a:p>
            <a:pPr algn="ctr" indent="0" marL="0">
              <a:lnSpc>
                <a:spcPts val="5100"/>
              </a:lnSpc>
              <a:buNone/>
            </a:pPr>
            <a:r>
              <a:rPr lang="en-US" sz="3400" i="1" dirty="0">
                <a:solidFill>
                  <a:srgbClr val="D9B96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是改变阿尔茨海默病 AD结局的关键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38648" y="4800600"/>
            <a:ext cx="914400" cy="0"/>
          </a:xfrm>
          <a:prstGeom prst="line">
            <a:avLst/>
          </a:prstGeom>
          <a:noFill/>
          <a:ln w="15240">
            <a:solidFill>
              <a:srgbClr val="D9B9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4983480"/>
            <a:ext cx="7619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B9B6A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时间窗决定神经功能的可挽救程度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98568" y="6355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9B6A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04 —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3C3C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诊疗路径 · PATHWAY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162495" y="2926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D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照护者手记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77240" y="640080"/>
            <a:ext cx="10637215" cy="0"/>
          </a:xfrm>
          <a:prstGeom prst="line">
            <a:avLst/>
          </a:prstGeom>
          <a:noFill/>
          <a:ln w="12700">
            <a:solidFill>
              <a:srgbClr val="0A0A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阿尔茨海默病 AD的四步管理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60120" y="2148840"/>
            <a:ext cx="10271455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早期识别  </a:t>
            </a:r>
            <a:pPr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 基于典型症状与量表快速筛查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12968" y="30129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D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3159252"/>
            <a:ext cx="10271455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确诊分型  </a:t>
            </a:r>
            <a:pPr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 影像 + 电生理 + 抗体检测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12968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D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169664"/>
            <a:ext cx="10271455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规范治疗  </a:t>
            </a:r>
            <a:pPr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 急性期干预与长期维持并重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12968" y="50337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D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5180076"/>
            <a:ext cx="10271455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康复随访  </a:t>
            </a:r>
            <a:pPr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 功能评估与并发症防控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6071616"/>
            <a:ext cx="8808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D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* 路径依据最新专家共识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98568" y="6355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C3C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05 —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3C3C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机制 · MECHANISM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162495" y="2926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D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照护者手记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77240" y="640080"/>
            <a:ext cx="10637215" cy="0"/>
          </a:xfrm>
          <a:prstGeom prst="line">
            <a:avLst/>
          </a:prstGeom>
          <a:noFill/>
          <a:ln w="12700">
            <a:solidFill>
              <a:srgbClr val="0A0A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发病机制与干预靶点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97280" y="2404872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病理基础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2990088"/>
            <a:ext cx="449564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神经元/髓鞘损伤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炎症与免疫异常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神经环路受累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8728" y="2148840"/>
            <a:ext cx="5135728" cy="3931920"/>
          </a:xfrm>
          <a:prstGeom prst="rect">
            <a:avLst/>
          </a:prstGeom>
          <a:solidFill>
            <a:srgbClr val="0A0A0B"/>
          </a:solidFill>
          <a:ln/>
        </p:spPr>
      </p:sp>
      <p:sp>
        <p:nvSpPr>
          <p:cNvPr id="9" name="Text 7"/>
          <p:cNvSpPr/>
          <p:nvPr/>
        </p:nvSpPr>
        <p:spPr>
          <a:xfrm>
            <a:off x="6598768" y="2404872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EFE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关键指标(示例)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98768" y="2990088"/>
            <a:ext cx="449564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0"/>
              </a:lnSpc>
              <a:buNone/>
            </a:pPr>
            <a:r>
              <a:rPr lang="en-US" sz="1150" dirty="0">
                <a:solidFill>
                  <a:srgbClr val="E8E5D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onset  : 急性/亚急性</a:t>
            </a:r>
            <a:endParaRPr lang="en-US" sz="115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150" dirty="0">
                <a:solidFill>
                  <a:srgbClr val="E8E5D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: 免疫调节</a:t>
            </a:r>
            <a:endParaRPr lang="en-US" sz="115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150" dirty="0">
                <a:solidFill>
                  <a:srgbClr val="E8E5D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window : 4.5h</a:t>
            </a:r>
            <a:endParaRPr lang="en-US" sz="115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150" dirty="0">
                <a:solidFill>
                  <a:srgbClr val="E8E5D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score  : mRS 0-2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98568" y="6355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C3C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06 —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3C3C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三大支柱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162495" y="2926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D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照护者手记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77240" y="640080"/>
            <a:ext cx="10637215" cy="0"/>
          </a:xfrm>
          <a:prstGeom prst="line">
            <a:avLst/>
          </a:prstGeom>
          <a:noFill/>
          <a:ln w="12700">
            <a:solidFill>
              <a:srgbClr val="0A0A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综合管理的三个维度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51560" y="2386584"/>
            <a:ext cx="64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16" b="1" dirty="0">
                <a:solidFill>
                  <a:srgbClr val="0A0A0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</a:t>
            </a:r>
            <a:endParaRPr lang="en-US" sz="2116" dirty="0"/>
          </a:p>
        </p:txBody>
      </p:sp>
      <p:sp>
        <p:nvSpPr>
          <p:cNvPr id="7" name="Text 5"/>
          <p:cNvSpPr/>
          <p:nvPr/>
        </p:nvSpPr>
        <p:spPr>
          <a:xfrm>
            <a:off x="1051560" y="297180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急性期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3749040"/>
            <a:ext cx="278373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快速稳定,把握可逆的治疗时间窗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03978" y="2386584"/>
            <a:ext cx="64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16" b="1" dirty="0">
                <a:solidFill>
                  <a:srgbClr val="0A0A0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</a:t>
            </a:r>
            <a:endParaRPr lang="en-US" sz="2116" dirty="0"/>
          </a:p>
        </p:txBody>
      </p:sp>
      <p:sp>
        <p:nvSpPr>
          <p:cNvPr id="10" name="Text 8"/>
          <p:cNvSpPr/>
          <p:nvPr/>
        </p:nvSpPr>
        <p:spPr>
          <a:xfrm>
            <a:off x="4703978" y="297180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维持期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03978" y="3749040"/>
            <a:ext cx="278373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预防复发,控制疾病活动度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56397" y="2386584"/>
            <a:ext cx="64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16" b="1" dirty="0">
                <a:solidFill>
                  <a:srgbClr val="0A0A0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</a:t>
            </a:r>
            <a:endParaRPr lang="en-US" sz="2116" dirty="0"/>
          </a:p>
        </p:txBody>
      </p:sp>
      <p:sp>
        <p:nvSpPr>
          <p:cNvPr id="13" name="Text 11"/>
          <p:cNvSpPr/>
          <p:nvPr/>
        </p:nvSpPr>
        <p:spPr>
          <a:xfrm>
            <a:off x="8356397" y="297180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康复期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56397" y="3749040"/>
            <a:ext cx="278373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功能重建与生活质量提升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98568" y="6355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C3C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07 —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3C3C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对比 · BEFORE / AFTER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162495" y="2926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D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照护者手记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77240" y="640080"/>
            <a:ext cx="10637215" cy="0"/>
          </a:xfrm>
          <a:prstGeom prst="line">
            <a:avLst/>
          </a:prstGeom>
          <a:noFill/>
          <a:ln w="12700">
            <a:solidFill>
              <a:srgbClr val="0A0A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规范化管理前后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5135728" cy="54864"/>
          </a:xfrm>
          <a:prstGeom prst="rect">
            <a:avLst/>
          </a:prstGeom>
          <a:solidFill>
            <a:srgbClr val="9C3A32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" y="2368296"/>
            <a:ext cx="455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C3A3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干预前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9848" y="2697480"/>
            <a:ext cx="455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分散诊疗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" y="3291840"/>
            <a:ext cx="45505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识别延迟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路径不统一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随访脱节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8728" y="2148840"/>
            <a:ext cx="5135728" cy="54864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11" name="Text 9"/>
          <p:cNvSpPr/>
          <p:nvPr/>
        </p:nvSpPr>
        <p:spPr>
          <a:xfrm>
            <a:off x="6571336" y="2368296"/>
            <a:ext cx="455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B7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干预后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71336" y="2697480"/>
            <a:ext cx="455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闭环管理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71336" y="3291840"/>
            <a:ext cx="45505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快速通道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标准路径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全程随访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98568" y="6355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C3C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08 —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3C3C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影像 · IMAGING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162495" y="2926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D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照护者手记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77240" y="640080"/>
            <a:ext cx="10637215" cy="0"/>
          </a:xfrm>
          <a:prstGeom prst="line">
            <a:avLst/>
          </a:prstGeom>
          <a:noFill/>
          <a:ln w="12700">
            <a:solidFill>
              <a:srgbClr val="0A0A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典型影像表现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38"/>
              </a:lnSpc>
              <a:buNone/>
            </a:pPr>
            <a:r>
              <a:rPr lang="en-US" sz="145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阿尔茨海默病 AD在 MRI/CT 上有其特征性征象,是确诊与分型的重要依据。规范化的影像采集与判读流程,能显著提升诊断一致性。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45720" cy="1188720"/>
          </a:xfrm>
          <a:prstGeom prst="rect">
            <a:avLst/>
          </a:prstGeom>
          <a:solidFill>
            <a:srgbClr val="0A0A0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4348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“影像必须结合临床与实验室,单一征象不足以定论。”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53492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D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诊断规范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675120" y="2148840"/>
            <a:ext cx="4739335" cy="3520440"/>
          </a:xfrm>
          <a:prstGeom prst="rect">
            <a:avLst/>
          </a:prstGeom>
          <a:solidFill>
            <a:srgbClr val="E8E5DE"/>
          </a:solidFill>
          <a:ln w="12700">
            <a:solidFill>
              <a:srgbClr val="C9C5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148840"/>
            <a:ext cx="4739335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6E6D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此处放置影像图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98568" y="6355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C3C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09 —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3C3C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关键指标 · KPI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162495" y="2926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D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照护者手记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77240" y="640080"/>
            <a:ext cx="10637215" cy="0"/>
          </a:xfrm>
          <a:prstGeom prst="line">
            <a:avLst/>
          </a:prstGeom>
          <a:noFill/>
          <a:ln w="12700">
            <a:solidFill>
              <a:srgbClr val="0A0A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本年度诊疗数据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33272" y="2386584"/>
            <a:ext cx="19072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6E6D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年接诊量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14984" y="2834640"/>
            <a:ext cx="19437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1,240</a:t>
            </a:r>
            <a:pPr indent="0" marL="0">
              <a:buNone/>
            </a:pPr>
            <a:r>
              <a:rPr lang="en-US" sz="1500" b="1" dirty="0">
                <a:solidFill>
                  <a:srgbClr val="3C3C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例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033272" y="4526280"/>
            <a:ext cx="19072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7A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↑ 18%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772586" y="2386584"/>
            <a:ext cx="19072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6E6D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确诊时间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754298" y="2834640"/>
            <a:ext cx="19437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3.2</a:t>
            </a:r>
            <a:pPr indent="0" marL="0">
              <a:buNone/>
            </a:pPr>
            <a:r>
              <a:rPr lang="en-US" sz="1500" b="1" dirty="0">
                <a:solidFill>
                  <a:srgbClr val="3C3C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天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772586" y="4526280"/>
            <a:ext cx="19072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7A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 0.8 天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11900" y="2386584"/>
            <a:ext cx="19072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6E6D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规范治疗率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93612" y="2834640"/>
            <a:ext cx="19437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91</a:t>
            </a:r>
            <a:pPr indent="0" marL="0">
              <a:buNone/>
            </a:pPr>
            <a:r>
              <a:rPr lang="en-US" sz="1500" b="1" dirty="0">
                <a:solidFill>
                  <a:srgbClr val="3C3C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511900" y="4526280"/>
            <a:ext cx="19072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7A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↑ 6 pt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251213" y="2386584"/>
            <a:ext cx="19072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6E6D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年复发率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232925" y="2834640"/>
            <a:ext cx="19437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12</a:t>
            </a:r>
            <a:pPr indent="0" marL="0">
              <a:buNone/>
            </a:pPr>
            <a:r>
              <a:rPr lang="en-US" sz="1500" b="1" dirty="0">
                <a:solidFill>
                  <a:srgbClr val="3C3C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9251213" y="4526280"/>
            <a:ext cx="19072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7A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 3 pt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98568" y="6355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C3C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10 —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3C3C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关键数据 · RESULT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162495" y="2926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D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照护者手记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77240" y="640080"/>
            <a:ext cx="10637215" cy="0"/>
          </a:xfrm>
          <a:prstGeom prst="line">
            <a:avLst/>
          </a:prstGeom>
          <a:noFill/>
          <a:ln w="12700">
            <a:solidFill>
              <a:srgbClr val="0A0A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阿尔茨海默病 AD的核心疗效指标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A0A0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10</a:t>
            </a:r>
            <a:pPr indent="0" marL="0">
              <a:buNone/>
            </a:pPr>
            <a:r>
              <a:rPr lang="en-US" sz="3000" b="1" dirty="0">
                <a:solidFill>
                  <a:srgbClr val="3C3C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年</a:t>
            </a:r>
            <a:endParaRPr lang="en-US" sz="96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4754880" cy="0"/>
          </a:xfrm>
          <a:prstGeom prst="line">
            <a:avLst/>
          </a:prstGeom>
          <a:noFill/>
          <a:ln w="12700">
            <a:solidFill>
              <a:srgbClr val="0A0A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572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从确诊到晚期的平均病程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0749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早期干预与照护规划,决定了这段旅程的质量。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423160"/>
            <a:ext cx="4373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3C3C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0" y="2807208"/>
            <a:ext cx="4373575" cy="0"/>
          </a:xfrm>
          <a:prstGeom prst="line">
            <a:avLst/>
          </a:prstGeom>
          <a:noFill/>
          <a:ln w="50800">
            <a:solidFill>
              <a:srgbClr val="C9C5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807208"/>
            <a:ext cx="2405466" cy="0"/>
          </a:xfrm>
          <a:prstGeom prst="line">
            <a:avLst/>
          </a:prstGeom>
          <a:noFill/>
          <a:ln w="50800">
            <a:solidFill>
              <a:srgbClr val="0A0A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337560"/>
            <a:ext cx="4373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3C3C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0" y="3721608"/>
            <a:ext cx="4373575" cy="0"/>
          </a:xfrm>
          <a:prstGeom prst="line">
            <a:avLst/>
          </a:prstGeom>
          <a:noFill/>
          <a:ln w="50800">
            <a:solidFill>
              <a:srgbClr val="C9C5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3721608"/>
            <a:ext cx="2974031" cy="0"/>
          </a:xfrm>
          <a:prstGeom prst="line">
            <a:avLst/>
          </a:prstGeom>
          <a:noFill/>
          <a:ln w="50800">
            <a:solidFill>
              <a:srgbClr val="0A0A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251960"/>
            <a:ext cx="4373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3C3C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0" y="4636008"/>
            <a:ext cx="4373575" cy="0"/>
          </a:xfrm>
          <a:prstGeom prst="line">
            <a:avLst/>
          </a:prstGeom>
          <a:noFill/>
          <a:ln w="50800">
            <a:solidFill>
              <a:srgbClr val="C9C5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4636008"/>
            <a:ext cx="3498860" cy="0"/>
          </a:xfrm>
          <a:prstGeom prst="line">
            <a:avLst/>
          </a:prstGeom>
          <a:noFill/>
          <a:ln w="50800">
            <a:solidFill>
              <a:srgbClr val="0A0A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5166360"/>
            <a:ext cx="4373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3C3C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0" y="5550408"/>
            <a:ext cx="4373575" cy="0"/>
          </a:xfrm>
          <a:prstGeom prst="line">
            <a:avLst/>
          </a:prstGeom>
          <a:noFill/>
          <a:ln w="50800">
            <a:solidFill>
              <a:srgbClr val="C9C5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5550408"/>
            <a:ext cx="4373575" cy="0"/>
          </a:xfrm>
          <a:prstGeom prst="line">
            <a:avLst/>
          </a:prstGeom>
          <a:noFill/>
          <a:ln w="50800">
            <a:solidFill>
              <a:srgbClr val="8A6D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98568" y="6355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C3C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11 —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3C3C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路线 ·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162495" y="2926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D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照护者手记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77240" y="640080"/>
            <a:ext cx="10637215" cy="0"/>
          </a:xfrm>
          <a:prstGeom prst="line">
            <a:avLst/>
          </a:prstGeom>
          <a:noFill/>
          <a:ln w="12700">
            <a:solidFill>
              <a:srgbClr val="0A0A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三年建设时间线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106892" y="3108960"/>
            <a:ext cx="7977911" cy="0"/>
          </a:xfrm>
          <a:prstGeom prst="line">
            <a:avLst/>
          </a:prstGeom>
          <a:noFill/>
          <a:ln w="25400">
            <a:solidFill>
              <a:srgbClr val="C9C5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5452" y="3017520"/>
            <a:ext cx="182880" cy="182880"/>
          </a:xfrm>
          <a:prstGeom prst="ellipse">
            <a:avLst/>
          </a:prstGeom>
          <a:solidFill>
            <a:srgbClr val="0A0A0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560320"/>
            <a:ext cx="247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0A0A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364992"/>
            <a:ext cx="247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体系搭建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组建团队,标准化路径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74756" y="3017520"/>
            <a:ext cx="182880" cy="182880"/>
          </a:xfrm>
          <a:prstGeom prst="ellipse">
            <a:avLst/>
          </a:prstGeom>
          <a:solidFill>
            <a:srgbClr val="0A0A0B"/>
          </a:solidFill>
          <a:ln/>
        </p:spPr>
      </p:sp>
      <p:sp>
        <p:nvSpPr>
          <p:cNvPr id="12" name="Text 10"/>
          <p:cNvSpPr/>
          <p:nvPr/>
        </p:nvSpPr>
        <p:spPr>
          <a:xfrm>
            <a:off x="3527984" y="2560320"/>
            <a:ext cx="247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0A0A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7984" y="3364992"/>
            <a:ext cx="247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能力提升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73704" y="388620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培训与质控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34060" y="3017520"/>
            <a:ext cx="182880" cy="182880"/>
          </a:xfrm>
          <a:prstGeom prst="ellipse">
            <a:avLst/>
          </a:prstGeom>
          <a:solidFill>
            <a:srgbClr val="0A0A0B"/>
          </a:solidFill>
          <a:ln/>
        </p:spPr>
      </p:sp>
      <p:sp>
        <p:nvSpPr>
          <p:cNvPr id="16" name="Text 14"/>
          <p:cNvSpPr/>
          <p:nvPr/>
        </p:nvSpPr>
        <p:spPr>
          <a:xfrm>
            <a:off x="6187288" y="2560320"/>
            <a:ext cx="247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0A0A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87288" y="3364992"/>
            <a:ext cx="247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区域辐射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33008" y="388620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分级诊疗网络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993363" y="3017520"/>
            <a:ext cx="182880" cy="182880"/>
          </a:xfrm>
          <a:prstGeom prst="ellipse">
            <a:avLst/>
          </a:prstGeom>
          <a:solidFill>
            <a:srgbClr val="C9C5BB"/>
          </a:solidFill>
          <a:ln/>
        </p:spPr>
      </p:sp>
      <p:sp>
        <p:nvSpPr>
          <p:cNvPr id="20" name="Text 18"/>
          <p:cNvSpPr/>
          <p:nvPr/>
        </p:nvSpPr>
        <p:spPr>
          <a:xfrm>
            <a:off x="8846591" y="2560320"/>
            <a:ext cx="247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0A0A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46591" y="3364992"/>
            <a:ext cx="247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持续优化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92311" y="388620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数据驱动改进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98568" y="6355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C3C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12 —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3C3C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明细 · 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162495" y="2926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D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照护者手记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77240" y="640080"/>
            <a:ext cx="10637215" cy="0"/>
          </a:xfrm>
          <a:prstGeom prst="line">
            <a:avLst/>
          </a:prstGeom>
          <a:noFill/>
          <a:ln w="12700">
            <a:solidFill>
              <a:srgbClr val="0A0A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分型与治疗方案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94560"/>
          <a:ext cx="10637215" cy="914400"/>
        </p:xfrm>
        <a:graphic>
          <a:graphicData uri="http://schemas.openxmlformats.org/drawingml/2006/table">
            <a:tbl>
              <a:tblPr/>
              <a:tblGrid>
                <a:gridCol w="2659304"/>
                <a:gridCol w="2659304"/>
                <a:gridCol w="2659304"/>
                <a:gridCol w="26593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EFE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分型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EFE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占比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EFE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一线方案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EFE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预后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0A0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经典型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C3C3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62%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3C3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标准治疗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3C3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良好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0A0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进展型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C3C3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24%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3C3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强化方案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3C3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中等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D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0A0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难治型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C3C3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14%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3C3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个体化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3C3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需随访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080760"/>
            <a:ext cx="10637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D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来源: 科室登记数据 2026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998568" y="6355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C3C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13 —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3C3C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流程 · PROCESS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162495" y="2926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D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照护者手记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77240" y="640080"/>
            <a:ext cx="10637215" cy="0"/>
          </a:xfrm>
          <a:prstGeom prst="line">
            <a:avLst/>
          </a:prstGeom>
          <a:noFill/>
          <a:ln w="12700">
            <a:solidFill>
              <a:srgbClr val="0A0A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急救绿色通道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14984" y="2368296"/>
            <a:ext cx="64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16" b="1" dirty="0">
                <a:solidFill>
                  <a:srgbClr val="0A0A0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2116" dirty="0"/>
          </a:p>
        </p:txBody>
      </p:sp>
      <p:sp>
        <p:nvSpPr>
          <p:cNvPr id="7" name="Text 5"/>
          <p:cNvSpPr/>
          <p:nvPr/>
        </p:nvSpPr>
        <p:spPr>
          <a:xfrm>
            <a:off x="1014984" y="2953512"/>
            <a:ext cx="18957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识别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14984" y="3685032"/>
            <a:ext cx="18957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症状快速筛查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2788" y="37719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6D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770300" y="2368296"/>
            <a:ext cx="64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16" b="1" dirty="0">
                <a:solidFill>
                  <a:srgbClr val="0A0A0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2116" dirty="0"/>
          </a:p>
        </p:txBody>
      </p:sp>
      <p:sp>
        <p:nvSpPr>
          <p:cNvPr id="11" name="Text 9"/>
          <p:cNvSpPr/>
          <p:nvPr/>
        </p:nvSpPr>
        <p:spPr>
          <a:xfrm>
            <a:off x="3770300" y="2953512"/>
            <a:ext cx="18957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分诊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770300" y="3685032"/>
            <a:ext cx="18957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开通绿色通道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8104" y="37719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6D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25616" y="2368296"/>
            <a:ext cx="64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16" b="1" dirty="0">
                <a:solidFill>
                  <a:srgbClr val="0A0A0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2116" dirty="0"/>
          </a:p>
        </p:txBody>
      </p:sp>
      <p:sp>
        <p:nvSpPr>
          <p:cNvPr id="15" name="Text 13"/>
          <p:cNvSpPr/>
          <p:nvPr/>
        </p:nvSpPr>
        <p:spPr>
          <a:xfrm>
            <a:off x="6525616" y="2953512"/>
            <a:ext cx="18957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干预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525616" y="3685032"/>
            <a:ext cx="18957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时间窗内处置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13419" y="37719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6D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280931" y="2368296"/>
            <a:ext cx="64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16" b="1" dirty="0">
                <a:solidFill>
                  <a:srgbClr val="0A0A0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2116" dirty="0"/>
          </a:p>
        </p:txBody>
      </p:sp>
      <p:sp>
        <p:nvSpPr>
          <p:cNvPr id="19" name="Text 17"/>
          <p:cNvSpPr/>
          <p:nvPr/>
        </p:nvSpPr>
        <p:spPr>
          <a:xfrm>
            <a:off x="9280931" y="2953512"/>
            <a:ext cx="18957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转归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280931" y="3685032"/>
            <a:ext cx="18957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3C3C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收治与随访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98568" y="6355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C3C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14 —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4248" y="1600200"/>
            <a:ext cx="2743200" cy="0"/>
          </a:xfrm>
          <a:prstGeom prst="line">
            <a:avLst/>
          </a:prstGeom>
          <a:noFill/>
          <a:ln w="10160">
            <a:solidFill>
              <a:srgbClr val="0A0A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82880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400" kern="0" dirty="0">
                <a:solidFill>
                  <a:srgbClr val="3C3C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总结 · NEXT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2377440"/>
            <a:ext cx="106372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让每一位阿尔茨海默病患者</a:t>
            </a:r>
            <a:pPr algn="ctr" indent="0" marL="0">
              <a:buNone/>
            </a:pPr>
            <a:r>
              <a:rPr lang="en-US" sz="4000" b="1" dirty="0">
                <a:solidFill>
                  <a:srgbClr val="0A0A0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都得到规范诊疗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011680" y="393192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C3C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照护者手记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470916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0A0A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推进标准化路径落地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24248" y="5440680"/>
            <a:ext cx="2743200" cy="0"/>
          </a:xfrm>
          <a:prstGeom prst="line">
            <a:avLst/>
          </a:prstGeom>
          <a:noFill/>
          <a:ln w="27940">
            <a:solidFill>
              <a:srgbClr val="0A0A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24248" y="5513832"/>
            <a:ext cx="2743200" cy="0"/>
          </a:xfrm>
          <a:prstGeom prst="line">
            <a:avLst/>
          </a:prstGeom>
          <a:noFill/>
          <a:ln w="10160">
            <a:solidFill>
              <a:srgbClr val="0A0A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98568" y="6355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C3C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15 —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阿尔茨海默病 AD · 演示</dc:title>
  <dc:subject>PptxGenJS Presentation</dc:subject>
  <dc:creator>demo</dc:creator>
  <cp:lastModifiedBy>demo</cp:lastModifiedBy>
  <cp:revision>1</cp:revision>
  <dcterms:created xsi:type="dcterms:W3CDTF">2026-07-04T16:51:26Z</dcterms:created>
  <dcterms:modified xsi:type="dcterms:W3CDTF">2026-07-04T16:51:26Z</dcterms:modified>
</cp:coreProperties>
</file>