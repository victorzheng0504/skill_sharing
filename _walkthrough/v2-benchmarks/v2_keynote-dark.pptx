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spc="400" kern="0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ONE-TIME GENE THERAPY</a:t>
            </a:r>
            <a:endParaRPr lang="en-US" sz="169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436"/>
              </a:lnSpc>
              <a:buNone/>
            </a:pPr>
            <a:r>
              <a:rPr lang="en-US" sz="676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一次给药,</a:t>
            </a:r>
            <a:pPr algn="ctr" indent="0" marL="0">
              <a:lnSpc>
                <a:spcPts val="7436"/>
              </a:lnSpc>
              <a:buNone/>
            </a:pPr>
            <a:r>
              <a:rPr lang="en-US" sz="676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改写 SMA 的一生</a:t>
            </a:r>
            <a:endParaRPr lang="en-US" sz="6760" dirty="0"/>
          </a:p>
        </p:txBody>
      </p:sp>
      <p:sp>
        <p:nvSpPr>
          <p:cNvPr id="4" name="Text 2"/>
          <p:cNvSpPr/>
          <p:nvPr/>
        </p:nvSpPr>
        <p:spPr>
          <a:xfrm>
            <a:off x="1828800" y="4434840"/>
            <a:ext cx="8534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把不可逆的运动神经元退变,拦在发生之前。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 · 目录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本次汇报</a:t>
            </a:r>
            <a:endParaRPr lang="en-US" sz="442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637215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 </a:t>
            </a:r>
            <a:pPr algn="ctr" indent="0" marL="0">
              <a:buNone/>
            </a:pPr>
            <a:r>
              <a:rPr lang="en-US" sz="247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疾病负担</a:t>
            </a:r>
            <a:endParaRPr lang="en-US" sz="2470" dirty="0"/>
          </a:p>
        </p:txBody>
      </p:sp>
      <p:sp>
        <p:nvSpPr>
          <p:cNvPr id="5" name="Text 3"/>
          <p:cNvSpPr/>
          <p:nvPr/>
        </p:nvSpPr>
        <p:spPr>
          <a:xfrm>
            <a:off x="777240" y="3208020"/>
            <a:ext cx="10637215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 </a:t>
            </a:r>
            <a:pPr algn="ctr" indent="0" marL="0">
              <a:buNone/>
            </a:pPr>
            <a:r>
              <a:rPr lang="en-US" sz="247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诊疗路径</a:t>
            </a:r>
            <a:endParaRPr lang="en-US" sz="2470" dirty="0"/>
          </a:p>
        </p:txBody>
      </p:sp>
      <p:sp>
        <p:nvSpPr>
          <p:cNvPr id="6" name="Text 4"/>
          <p:cNvSpPr/>
          <p:nvPr/>
        </p:nvSpPr>
        <p:spPr>
          <a:xfrm>
            <a:off x="777240" y="3810000"/>
            <a:ext cx="10637215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 </a:t>
            </a:r>
            <a:pPr algn="ctr" indent="0" marL="0">
              <a:buNone/>
            </a:pPr>
            <a:r>
              <a:rPr lang="en-US" sz="247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关键指标</a:t>
            </a:r>
            <a:endParaRPr lang="en-US" sz="2470" dirty="0"/>
          </a:p>
        </p:txBody>
      </p:sp>
      <p:sp>
        <p:nvSpPr>
          <p:cNvPr id="7" name="Text 5"/>
          <p:cNvSpPr/>
          <p:nvPr/>
        </p:nvSpPr>
        <p:spPr>
          <a:xfrm>
            <a:off x="777240" y="4411980"/>
            <a:ext cx="10637215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 </a:t>
            </a:r>
            <a:pPr algn="ctr" indent="0" marL="0">
              <a:buNone/>
            </a:pPr>
            <a:r>
              <a:rPr lang="en-US" sz="247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现存问题</a:t>
            </a:r>
            <a:endParaRPr lang="en-US" sz="2470" dirty="0"/>
          </a:p>
        </p:txBody>
      </p:sp>
      <p:sp>
        <p:nvSpPr>
          <p:cNvPr id="8" name="Text 6"/>
          <p:cNvSpPr/>
          <p:nvPr/>
        </p:nvSpPr>
        <p:spPr>
          <a:xfrm>
            <a:off x="777240" y="5013960"/>
            <a:ext cx="10637215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 </a:t>
            </a:r>
            <a:pPr algn="ctr" indent="0" marL="0">
              <a:buNone/>
            </a:pPr>
            <a:r>
              <a:rPr lang="en-US" sz="247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改进方案</a:t>
            </a:r>
            <a:endParaRPr lang="en-US" sz="2470" dirty="0"/>
          </a:p>
        </p:txBody>
      </p:sp>
      <p:sp>
        <p:nvSpPr>
          <p:cNvPr id="9" name="Text 7"/>
          <p:cNvSpPr/>
          <p:nvPr/>
        </p:nvSpPr>
        <p:spPr>
          <a:xfrm>
            <a:off x="777240" y="5615940"/>
            <a:ext cx="10637215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 </a:t>
            </a:r>
            <a:pPr algn="ctr" indent="0" marL="0">
              <a:buNone/>
            </a:pPr>
            <a:r>
              <a:rPr lang="en-US" sz="247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资源需求</a:t>
            </a:r>
            <a:endParaRPr lang="en-US" sz="24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spc="5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疾病负担</a:t>
            </a:r>
            <a:endParaRPr lang="en-US" sz="5720" dirty="0"/>
          </a:p>
        </p:txBody>
      </p:sp>
      <p:sp>
        <p:nvSpPr>
          <p:cNvPr id="4" name="Text 2"/>
          <p:cNvSpPr/>
          <p:nvPr/>
        </p:nvSpPr>
        <p:spPr>
          <a:xfrm>
            <a:off x="2286000" y="416052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脊髓性肌萎缩 SMA的流行病学与临床现状</a:t>
            </a:r>
            <a:endParaRPr lang="en-US" sz="1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944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77"/>
              </a:lnSpc>
              <a:buNone/>
            </a:pPr>
            <a:r>
              <a:rPr lang="en-US" sz="598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早识别、早干预,</a:t>
            </a:r>
            <a:endParaRPr lang="en-US" sz="5980" dirty="0"/>
          </a:p>
          <a:p>
            <a:pPr algn="ctr" indent="0" marL="0">
              <a:lnSpc>
                <a:spcPts val="6877"/>
              </a:lnSpc>
              <a:buNone/>
            </a:pPr>
            <a:r>
              <a:rPr lang="en-US" sz="598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是改变脊髓性肌萎缩 SMA结局的关键</a:t>
            </a:r>
            <a:endParaRPr lang="en-US" sz="5980" dirty="0"/>
          </a:p>
        </p:txBody>
      </p:sp>
      <p:sp>
        <p:nvSpPr>
          <p:cNvPr id="3" name="Text 1"/>
          <p:cNvSpPr/>
          <p:nvPr/>
        </p:nvSpPr>
        <p:spPr>
          <a:xfrm>
            <a:off x="2286000" y="489204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时间窗决定神经功能的可挽救程度</a:t>
            </a:r>
            <a:endParaRPr lang="en-US" sz="1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诊疗路径 · PATHWAY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脊髓性肌萎缩 SMA的四步管理</a:t>
            </a:r>
            <a:endParaRPr lang="en-US" sz="442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637215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早期识别</a:t>
            </a:r>
            <a:endParaRPr lang="en-US" sz="2860" dirty="0"/>
          </a:p>
        </p:txBody>
      </p:sp>
      <p:sp>
        <p:nvSpPr>
          <p:cNvPr id="5" name="Text 3"/>
          <p:cNvSpPr/>
          <p:nvPr/>
        </p:nvSpPr>
        <p:spPr>
          <a:xfrm>
            <a:off x="1691640" y="3038551"/>
            <a:ext cx="880841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基于典型症状与量表快速筛查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777240" y="3502152"/>
            <a:ext cx="10637215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确诊分型</a:t>
            </a:r>
            <a:endParaRPr lang="en-US" sz="2860" dirty="0"/>
          </a:p>
        </p:txBody>
      </p:sp>
      <p:sp>
        <p:nvSpPr>
          <p:cNvPr id="7" name="Text 5"/>
          <p:cNvSpPr/>
          <p:nvPr/>
        </p:nvSpPr>
        <p:spPr>
          <a:xfrm>
            <a:off x="1691640" y="3934663"/>
            <a:ext cx="880841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 + 电生理 + 抗体检测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777240" y="4398264"/>
            <a:ext cx="10637215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规范治疗</a:t>
            </a:r>
            <a:endParaRPr lang="en-US" sz="2860" dirty="0"/>
          </a:p>
        </p:txBody>
      </p:sp>
      <p:sp>
        <p:nvSpPr>
          <p:cNvPr id="9" name="Text 7"/>
          <p:cNvSpPr/>
          <p:nvPr/>
        </p:nvSpPr>
        <p:spPr>
          <a:xfrm>
            <a:off x="1691640" y="4830775"/>
            <a:ext cx="880841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急性期干预与长期维持并重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777240" y="5294376"/>
            <a:ext cx="10637215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康复随访</a:t>
            </a:r>
            <a:endParaRPr lang="en-US" sz="2860" dirty="0"/>
          </a:p>
        </p:txBody>
      </p:sp>
      <p:sp>
        <p:nvSpPr>
          <p:cNvPr id="11" name="Text 9"/>
          <p:cNvSpPr/>
          <p:nvPr/>
        </p:nvSpPr>
        <p:spPr>
          <a:xfrm>
            <a:off x="1691640" y="5726887"/>
            <a:ext cx="880841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功能评估与并发症防控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77240" y="6071616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i="1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* 路径依据最新专家共识</a:t>
            </a:r>
            <a:endParaRPr lang="en-US" sz="14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 · MECHANISM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发病机制与干预靶点</a:t>
            </a:r>
            <a:endParaRPr lang="en-US" sz="4420" dirty="0"/>
          </a:p>
        </p:txBody>
      </p:sp>
      <p:sp>
        <p:nvSpPr>
          <p:cNvPr id="4" name="Text 2"/>
          <p:cNvSpPr/>
          <p:nvPr/>
        </p:nvSpPr>
        <p:spPr>
          <a:xfrm>
            <a:off x="1097280" y="286207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1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病理基础</a:t>
            </a:r>
            <a:endParaRPr lang="en-US" sz="2210" dirty="0"/>
          </a:p>
        </p:txBody>
      </p:sp>
      <p:sp>
        <p:nvSpPr>
          <p:cNvPr id="5" name="Text 3"/>
          <p:cNvSpPr/>
          <p:nvPr/>
        </p:nvSpPr>
        <p:spPr>
          <a:xfrm>
            <a:off x="1097280" y="3447288"/>
            <a:ext cx="44956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神经元/髓鞘损伤</a:t>
            </a:r>
            <a:endParaRPr lang="en-US" sz="169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炎症与免疫异常</a:t>
            </a:r>
            <a:endParaRPr lang="en-US" sz="169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神经环路受累</a:t>
            </a:r>
            <a:endParaRPr lang="en-US" sz="1690" dirty="0"/>
          </a:p>
        </p:txBody>
      </p:sp>
      <p:sp>
        <p:nvSpPr>
          <p:cNvPr id="6" name="Shape 4"/>
          <p:cNvSpPr/>
          <p:nvPr/>
        </p:nvSpPr>
        <p:spPr>
          <a:xfrm>
            <a:off x="6278728" y="2606040"/>
            <a:ext cx="5135728" cy="3474720"/>
          </a:xfrm>
          <a:prstGeom prst="roundRect">
            <a:avLst>
              <a:gd name="adj" fmla="val 2368"/>
            </a:avLst>
          </a:prstGeom>
          <a:solidFill>
            <a:srgbClr val="0A0A0C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98768" y="2862072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1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关键指标(示例)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6598768" y="3447288"/>
            <a:ext cx="44956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onset  : 急性/亚急性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target : 免疫调节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window : 4.5h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1A1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score  : mRS 0-2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三大支柱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综合管理的三个维度</a:t>
            </a:r>
            <a:endParaRPr lang="en-US" sz="4420" dirty="0"/>
          </a:p>
        </p:txBody>
      </p:sp>
      <p:sp>
        <p:nvSpPr>
          <p:cNvPr id="4" name="Text 2"/>
          <p:cNvSpPr/>
          <p:nvPr/>
        </p:nvSpPr>
        <p:spPr>
          <a:xfrm>
            <a:off x="1051560" y="34290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8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急性期</a:t>
            </a:r>
            <a:endParaRPr lang="en-US" sz="2080" dirty="0"/>
          </a:p>
        </p:txBody>
      </p:sp>
      <p:sp>
        <p:nvSpPr>
          <p:cNvPr id="5" name="Text 3"/>
          <p:cNvSpPr/>
          <p:nvPr/>
        </p:nvSpPr>
        <p:spPr>
          <a:xfrm>
            <a:off x="1051560" y="4206240"/>
            <a:ext cx="27837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96"/>
              </a:lnSpc>
              <a:buNone/>
            </a:pPr>
            <a:r>
              <a:rPr lang="en-US" sz="156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快速稳定,把握可逆的治疗时间窗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4703978" y="34290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8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维持期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4703978" y="4206240"/>
            <a:ext cx="27837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96"/>
              </a:lnSpc>
              <a:buNone/>
            </a:pPr>
            <a:r>
              <a:rPr lang="en-US" sz="156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预防复发,控制疾病活动度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356397" y="342900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8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康复期</a:t>
            </a:r>
            <a:endParaRPr lang="en-US" sz="2080" dirty="0"/>
          </a:p>
        </p:txBody>
      </p:sp>
      <p:sp>
        <p:nvSpPr>
          <p:cNvPr id="9" name="Text 7"/>
          <p:cNvSpPr/>
          <p:nvPr/>
        </p:nvSpPr>
        <p:spPr>
          <a:xfrm>
            <a:off x="8356397" y="4206240"/>
            <a:ext cx="27837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96"/>
              </a:lnSpc>
              <a:buNone/>
            </a:pPr>
            <a:r>
              <a:rPr lang="en-US" sz="156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功能重建与生活质量提升</a:t>
            </a:r>
            <a:endParaRPr lang="en-US" sz="1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 · BEFORE / AFTER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规范化管理前后</a:t>
            </a:r>
            <a:endParaRPr lang="en-US" sz="4420" dirty="0"/>
          </a:p>
        </p:txBody>
      </p:sp>
      <p:sp>
        <p:nvSpPr>
          <p:cNvPr id="4" name="Shape 2"/>
          <p:cNvSpPr/>
          <p:nvPr/>
        </p:nvSpPr>
        <p:spPr>
          <a:xfrm>
            <a:off x="777240" y="2606040"/>
            <a:ext cx="5135728" cy="54864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282549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spc="200" kern="0" dirty="0">
                <a:solidFill>
                  <a:srgbClr val="FF4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干预前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069848" y="315468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分散诊疗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1069848" y="3749040"/>
            <a:ext cx="455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识别延迟</a:t>
            </a:r>
            <a:endParaRPr lang="en-US" sz="169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路径不统一</a:t>
            </a:r>
            <a:endParaRPr lang="en-US" sz="169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随访脱节</a:t>
            </a:r>
            <a:endParaRPr lang="en-US" sz="1690" dirty="0"/>
          </a:p>
        </p:txBody>
      </p:sp>
      <p:sp>
        <p:nvSpPr>
          <p:cNvPr id="8" name="Shape 6"/>
          <p:cNvSpPr/>
          <p:nvPr/>
        </p:nvSpPr>
        <p:spPr>
          <a:xfrm>
            <a:off x="6278728" y="2606040"/>
            <a:ext cx="5135728" cy="54864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9" name="Text 7"/>
          <p:cNvSpPr/>
          <p:nvPr/>
        </p:nvSpPr>
        <p:spPr>
          <a:xfrm>
            <a:off x="6571336" y="2825496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spc="200" kern="0" dirty="0">
                <a:solidFill>
                  <a:srgbClr val="30D1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干预后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6571336" y="315468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4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闭环管理</a:t>
            </a:r>
            <a:endParaRPr lang="en-US" sz="2340" dirty="0"/>
          </a:p>
        </p:txBody>
      </p:sp>
      <p:sp>
        <p:nvSpPr>
          <p:cNvPr id="11" name="Text 9"/>
          <p:cNvSpPr/>
          <p:nvPr/>
        </p:nvSpPr>
        <p:spPr>
          <a:xfrm>
            <a:off x="6571336" y="3749040"/>
            <a:ext cx="455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快速通道</a:t>
            </a:r>
            <a:endParaRPr lang="en-US" sz="169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标准路径</a:t>
            </a:r>
            <a:endParaRPr lang="en-US" sz="169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6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全程随访</a:t>
            </a:r>
            <a:endParaRPr lang="en-US" sz="16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 · IMAGING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典型影像表现</a:t>
            </a:r>
            <a:endParaRPr lang="en-US" sz="4420" dirty="0"/>
          </a:p>
        </p:txBody>
      </p:sp>
      <p:sp>
        <p:nvSpPr>
          <p:cNvPr id="4" name="Text 2"/>
          <p:cNvSpPr/>
          <p:nvPr/>
        </p:nvSpPr>
        <p:spPr>
          <a:xfrm>
            <a:off x="777240" y="26517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7"/>
              </a:lnSpc>
              <a:buNone/>
            </a:pPr>
            <a:r>
              <a:rPr lang="en-US" sz="189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脊髓性肌萎缩 SMA在 MRI/CT 上有其特征性征象,是确诊与分型的重要依据。规范化的影像采集与判读流程,能显著提升诊断一致性。</a:t>
            </a:r>
            <a:endParaRPr lang="en-US" sz="1890" dirty="0"/>
          </a:p>
        </p:txBody>
      </p:sp>
      <p:sp>
        <p:nvSpPr>
          <p:cNvPr id="5" name="Shape 3"/>
          <p:cNvSpPr/>
          <p:nvPr/>
        </p:nvSpPr>
        <p:spPr>
          <a:xfrm>
            <a:off x="777240" y="4434840"/>
            <a:ext cx="45720" cy="1188720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434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90" i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“影像必须结合临床与实验室,单一征象不足以定论。”</a:t>
            </a:r>
            <a:endParaRPr lang="en-US" sz="1890" dirty="0"/>
          </a:p>
        </p:txBody>
      </p:sp>
      <p:sp>
        <p:nvSpPr>
          <p:cNvPr id="7" name="Text 5"/>
          <p:cNvSpPr/>
          <p:nvPr/>
        </p:nvSpPr>
        <p:spPr>
          <a:xfrm>
            <a:off x="1005840" y="5349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诊断规范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606040"/>
            <a:ext cx="4739335" cy="3063240"/>
          </a:xfrm>
          <a:prstGeom prst="roundRect">
            <a:avLst>
              <a:gd name="adj" fmla="val 2687"/>
            </a:avLst>
          </a:prstGeom>
          <a:solidFill>
            <a:srgbClr val="111113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606040"/>
            <a:ext cx="4739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200" kern="0" dirty="0">
                <a:solidFill>
                  <a:srgbClr val="6E6E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此处放置影像图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 KPI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本年度诊疗数据</a:t>
            </a:r>
            <a:endParaRPr lang="en-US" sz="4420" dirty="0"/>
          </a:p>
        </p:txBody>
      </p:sp>
      <p:sp>
        <p:nvSpPr>
          <p:cNvPr id="4" name="Text 2"/>
          <p:cNvSpPr/>
          <p:nvPr/>
        </p:nvSpPr>
        <p:spPr>
          <a:xfrm>
            <a:off x="1033272" y="28437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spc="150" kern="0" dirty="0">
                <a:solidFill>
                  <a:srgbClr val="6E6E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年接诊量</a:t>
            </a:r>
            <a:endParaRPr lang="en-US" sz="1370" dirty="0"/>
          </a:p>
        </p:txBody>
      </p:sp>
      <p:sp>
        <p:nvSpPr>
          <p:cNvPr id="5" name="Text 3"/>
          <p:cNvSpPr/>
          <p:nvPr/>
        </p:nvSpPr>
        <p:spPr>
          <a:xfrm>
            <a:off x="1014984" y="32918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4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1,240</a:t>
            </a:r>
            <a:pPr indent="0" marL="0">
              <a:buNone/>
            </a:pPr>
            <a:r>
              <a:rPr lang="en-US" sz="1950" b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例</a:t>
            </a:r>
            <a:endParaRPr lang="en-US" sz="4940" dirty="0"/>
          </a:p>
        </p:txBody>
      </p:sp>
      <p:sp>
        <p:nvSpPr>
          <p:cNvPr id="6" name="Text 4"/>
          <p:cNvSpPr/>
          <p:nvPr/>
        </p:nvSpPr>
        <p:spPr>
          <a:xfrm>
            <a:off x="1033272" y="49834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30D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18%</a:t>
            </a:r>
            <a:endParaRPr lang="en-US" sz="1630" dirty="0"/>
          </a:p>
        </p:txBody>
      </p:sp>
      <p:sp>
        <p:nvSpPr>
          <p:cNvPr id="7" name="Text 5"/>
          <p:cNvSpPr/>
          <p:nvPr/>
        </p:nvSpPr>
        <p:spPr>
          <a:xfrm>
            <a:off x="3772586" y="28437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spc="150" kern="0" dirty="0">
                <a:solidFill>
                  <a:srgbClr val="6E6E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确诊时间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3754298" y="32918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4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3.2</a:t>
            </a:r>
            <a:pPr indent="0" marL="0">
              <a:buNone/>
            </a:pPr>
            <a:r>
              <a:rPr lang="en-US" sz="1950" b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天</a:t>
            </a:r>
            <a:endParaRPr lang="en-US" sz="4940" dirty="0"/>
          </a:p>
        </p:txBody>
      </p:sp>
      <p:sp>
        <p:nvSpPr>
          <p:cNvPr id="9" name="Text 7"/>
          <p:cNvSpPr/>
          <p:nvPr/>
        </p:nvSpPr>
        <p:spPr>
          <a:xfrm>
            <a:off x="3772586" y="49834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30D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0.8 天</a:t>
            </a:r>
            <a:endParaRPr lang="en-US" sz="1630" dirty="0"/>
          </a:p>
        </p:txBody>
      </p:sp>
      <p:sp>
        <p:nvSpPr>
          <p:cNvPr id="10" name="Text 8"/>
          <p:cNvSpPr/>
          <p:nvPr/>
        </p:nvSpPr>
        <p:spPr>
          <a:xfrm>
            <a:off x="6511900" y="28437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spc="150" kern="0" dirty="0">
                <a:solidFill>
                  <a:srgbClr val="6E6E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规范治疗率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6493612" y="32918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4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91</a:t>
            </a:r>
            <a:pPr indent="0" marL="0">
              <a:buNone/>
            </a:pPr>
            <a:r>
              <a:rPr lang="en-US" sz="1950" b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%</a:t>
            </a:r>
            <a:endParaRPr lang="en-US" sz="4940" dirty="0"/>
          </a:p>
        </p:txBody>
      </p:sp>
      <p:sp>
        <p:nvSpPr>
          <p:cNvPr id="12" name="Text 10"/>
          <p:cNvSpPr/>
          <p:nvPr/>
        </p:nvSpPr>
        <p:spPr>
          <a:xfrm>
            <a:off x="6511900" y="49834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30D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6 pt</a:t>
            </a:r>
            <a:endParaRPr lang="en-US" sz="1630" dirty="0"/>
          </a:p>
        </p:txBody>
      </p:sp>
      <p:sp>
        <p:nvSpPr>
          <p:cNvPr id="13" name="Text 11"/>
          <p:cNvSpPr/>
          <p:nvPr/>
        </p:nvSpPr>
        <p:spPr>
          <a:xfrm>
            <a:off x="9251213" y="2843784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spc="150" kern="0" dirty="0">
                <a:solidFill>
                  <a:srgbClr val="6E6E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年复发率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9232925" y="3291840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4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pPr indent="0" marL="0">
              <a:buNone/>
            </a:pPr>
            <a:r>
              <a:rPr lang="en-US" sz="1950" b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%</a:t>
            </a:r>
            <a:endParaRPr lang="en-US" sz="4940" dirty="0"/>
          </a:p>
        </p:txBody>
      </p:sp>
      <p:sp>
        <p:nvSpPr>
          <p:cNvPr id="15" name="Text 13"/>
          <p:cNvSpPr/>
          <p:nvPr/>
        </p:nvSpPr>
        <p:spPr>
          <a:xfrm>
            <a:off x="9251213" y="4983480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30D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3 pt</a:t>
            </a:r>
            <a:endParaRPr lang="en-US" sz="16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关键数据 · RESULT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112772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pPr algn="ctr" indent="0" marL="0">
              <a:buNone/>
            </a:pPr>
            <a:r>
              <a:rPr lang="en-US" sz="5200" b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次</a:t>
            </a:r>
            <a:endParaRPr lang="en-US" sz="15600" dirty="0"/>
          </a:p>
        </p:txBody>
      </p:sp>
      <p:sp>
        <p:nvSpPr>
          <p:cNvPr id="4" name="Text 2"/>
          <p:cNvSpPr/>
          <p:nvPr/>
        </p:nvSpPr>
        <p:spPr>
          <a:xfrm>
            <a:off x="1828800" y="4480560"/>
            <a:ext cx="8534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5F5F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静脉输注,终身一次</a:t>
            </a:r>
            <a:endParaRPr lang="en-US" sz="2210" dirty="0"/>
          </a:p>
        </p:txBody>
      </p:sp>
      <p:sp>
        <p:nvSpPr>
          <p:cNvPr id="5" name="Text 3"/>
          <p:cNvSpPr/>
          <p:nvPr/>
        </p:nvSpPr>
        <p:spPr>
          <a:xfrm>
            <a:off x="2286000" y="50292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0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针对 SMN1 双等位基因缺失患者的一次性基因替代治疗。</a:t>
            </a:r>
            <a:endParaRPr lang="en-US" sz="16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路线 · ROADMAP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三年建设时间线</a:t>
            </a:r>
            <a:endParaRPr lang="en-US" sz="4420" dirty="0"/>
          </a:p>
        </p:txBody>
      </p:sp>
      <p:sp>
        <p:nvSpPr>
          <p:cNvPr id="4" name="Shape 2"/>
          <p:cNvSpPr/>
          <p:nvPr/>
        </p:nvSpPr>
        <p:spPr>
          <a:xfrm>
            <a:off x="2106892" y="3566160"/>
            <a:ext cx="7977911" cy="0"/>
          </a:xfrm>
          <a:prstGeom prst="line">
            <a:avLst/>
          </a:prstGeom>
          <a:noFill/>
          <a:ln w="25400">
            <a:solidFill>
              <a:srgbClr val="2A2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5452" y="3474720"/>
            <a:ext cx="182880" cy="182880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299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8221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体系搭建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组建团队,标准化路径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4674756" y="3474720"/>
            <a:ext cx="182880" cy="182880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7984" y="30175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299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7984" y="38221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能力提升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3573704" y="43434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培训与质控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34060" y="3474720"/>
            <a:ext cx="182880" cy="182880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87288" y="30175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299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7288" y="38221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区域辐射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6233008" y="43434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分级诊疗网络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9993363" y="3474720"/>
            <a:ext cx="182880" cy="182880"/>
          </a:xfrm>
          <a:prstGeom prst="ellipse">
            <a:avLst/>
          </a:prstGeom>
          <a:solidFill>
            <a:srgbClr val="2A2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846591" y="3017520"/>
            <a:ext cx="247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299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46591" y="3822192"/>
            <a:ext cx="2476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持续优化</a:t>
            </a:r>
            <a:endParaRPr lang="en-US" sz="1820" dirty="0"/>
          </a:p>
        </p:txBody>
      </p:sp>
      <p:sp>
        <p:nvSpPr>
          <p:cNvPr id="20" name="Text 18"/>
          <p:cNvSpPr/>
          <p:nvPr/>
        </p:nvSpPr>
        <p:spPr>
          <a:xfrm>
            <a:off x="8892311" y="434340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数据驱动改进</a:t>
            </a:r>
            <a:endParaRPr lang="en-US" sz="14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明细 · DATA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分型与治疗方案</a:t>
            </a:r>
            <a:endParaRPr lang="en-US" sz="44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65176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F5F5F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分型</a:t>
                      </a:r>
                      <a:endParaRPr lang="en-US" sz="156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F5F5F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占比</a:t>
                      </a:r>
                      <a:endParaRPr lang="en-US" sz="156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F5F5F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一线方案</a:t>
                      </a:r>
                      <a:endParaRPr lang="en-US" sz="156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b="1" dirty="0">
                          <a:solidFill>
                            <a:srgbClr val="F5F5F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预后</a:t>
                      </a:r>
                      <a:endParaRPr lang="en-US" sz="156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5F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经典型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62%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标准治疗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5F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进展型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24%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强化方案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中等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5F7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难治型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14%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个体化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1A1A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需随访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6080760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E6E7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来源: 科室登记数据 2026</a:t>
            </a:r>
            <a:endParaRPr lang="en-US" sz="12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spc="300" kern="0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 · PROCESS</a:t>
            </a:r>
            <a:endParaRPr lang="en-US" sz="156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2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急救绿色通道</a:t>
            </a:r>
            <a:endParaRPr lang="en-US" sz="4420" dirty="0"/>
          </a:p>
        </p:txBody>
      </p:sp>
      <p:sp>
        <p:nvSpPr>
          <p:cNvPr id="4" name="Text 2"/>
          <p:cNvSpPr/>
          <p:nvPr/>
        </p:nvSpPr>
        <p:spPr>
          <a:xfrm>
            <a:off x="1014984" y="34107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9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识别</a:t>
            </a:r>
            <a:endParaRPr lang="en-US" sz="1890" dirty="0"/>
          </a:p>
        </p:txBody>
      </p:sp>
      <p:sp>
        <p:nvSpPr>
          <p:cNvPr id="5" name="Text 3"/>
          <p:cNvSpPr/>
          <p:nvPr/>
        </p:nvSpPr>
        <p:spPr>
          <a:xfrm>
            <a:off x="1014984" y="4142232"/>
            <a:ext cx="18957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症状快速筛查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3102788" y="40005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3770300" y="34107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9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分诊</a:t>
            </a:r>
            <a:endParaRPr lang="en-US" sz="1890" dirty="0"/>
          </a:p>
        </p:txBody>
      </p:sp>
      <p:sp>
        <p:nvSpPr>
          <p:cNvPr id="8" name="Text 6"/>
          <p:cNvSpPr/>
          <p:nvPr/>
        </p:nvSpPr>
        <p:spPr>
          <a:xfrm>
            <a:off x="3770300" y="4142232"/>
            <a:ext cx="18957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开通绿色通道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5858104" y="40005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210" dirty="0"/>
          </a:p>
        </p:txBody>
      </p:sp>
      <p:sp>
        <p:nvSpPr>
          <p:cNvPr id="10" name="Text 8"/>
          <p:cNvSpPr/>
          <p:nvPr/>
        </p:nvSpPr>
        <p:spPr>
          <a:xfrm>
            <a:off x="6525616" y="34107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9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干预</a:t>
            </a:r>
            <a:endParaRPr lang="en-US" sz="1890" dirty="0"/>
          </a:p>
        </p:txBody>
      </p:sp>
      <p:sp>
        <p:nvSpPr>
          <p:cNvPr id="11" name="Text 9"/>
          <p:cNvSpPr/>
          <p:nvPr/>
        </p:nvSpPr>
        <p:spPr>
          <a:xfrm>
            <a:off x="6525616" y="4142232"/>
            <a:ext cx="18957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时间窗内处置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613419" y="40005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6E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210" dirty="0"/>
          </a:p>
        </p:txBody>
      </p:sp>
      <p:sp>
        <p:nvSpPr>
          <p:cNvPr id="13" name="Text 11"/>
          <p:cNvSpPr/>
          <p:nvPr/>
        </p:nvSpPr>
        <p:spPr>
          <a:xfrm>
            <a:off x="9280931" y="3410712"/>
            <a:ext cx="1895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9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转归</a:t>
            </a:r>
            <a:endParaRPr lang="en-US" sz="1890" dirty="0"/>
          </a:p>
        </p:txBody>
      </p:sp>
      <p:sp>
        <p:nvSpPr>
          <p:cNvPr id="14" name="Text 12"/>
          <p:cNvSpPr/>
          <p:nvPr/>
        </p:nvSpPr>
        <p:spPr>
          <a:xfrm>
            <a:off x="9280931" y="4142232"/>
            <a:ext cx="18957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17"/>
              </a:lnSpc>
              <a:buNone/>
            </a:pPr>
            <a:r>
              <a:rPr lang="en-US" sz="1430" dirty="0">
                <a:solidFill>
                  <a:srgbClr val="A1A1A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收治与随访</a:t>
            </a:r>
            <a:endParaRPr lang="en-US" sz="14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146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4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让每一位脊髓性肌萎缩患者</a:t>
            </a:r>
            <a:pPr algn="ctr" indent="0" marL="0">
              <a:buNone/>
            </a:pPr>
            <a:r>
              <a:rPr lang="en-US" sz="624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都得到规范诊疗</a:t>
            </a:r>
            <a:endParaRPr lang="en-US" sz="6240" dirty="0"/>
          </a:p>
        </p:txBody>
      </p:sp>
      <p:sp>
        <p:nvSpPr>
          <p:cNvPr id="3" name="Text 1"/>
          <p:cNvSpPr/>
          <p:nvPr/>
        </p:nvSpPr>
        <p:spPr>
          <a:xfrm>
            <a:off x="2286000" y="4069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8686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基因治疗新品发布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777240" y="489204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997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推进标准化路径落地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脊髓性肌萎缩 SMA · 演示</dc:title>
  <dc:subject>PptxGenJS Presentation</dc:subject>
  <dc:creator>demo</dc:creator>
  <cp:lastModifiedBy>demo</cp:lastModifiedBy>
  <cp:revision>1</cp:revision>
  <dcterms:created xsi:type="dcterms:W3CDTF">2026-07-04T16:51:26Z</dcterms:created>
  <dcterms:modified xsi:type="dcterms:W3CDTF">2026-07-04T16:51:26Z</dcterms:modified>
</cp:coreProperties>
</file>